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68" r:id="rId6"/>
    <p:sldId id="259" r:id="rId7"/>
    <p:sldId id="281" r:id="rId8"/>
    <p:sldId id="260" r:id="rId9"/>
    <p:sldId id="288" r:id="rId10"/>
    <p:sldId id="289" r:id="rId11"/>
    <p:sldId id="261" r:id="rId12"/>
    <p:sldId id="263" r:id="rId13"/>
    <p:sldId id="264" r:id="rId14"/>
    <p:sldId id="265" r:id="rId15"/>
    <p:sldId id="267" r:id="rId16"/>
    <p:sldId id="269" r:id="rId17"/>
    <p:sldId id="285" r:id="rId18"/>
    <p:sldId id="274" r:id="rId19"/>
    <p:sldId id="283" r:id="rId20"/>
    <p:sldId id="292" r:id="rId21"/>
    <p:sldId id="275" r:id="rId22"/>
    <p:sldId id="284" r:id="rId23"/>
    <p:sldId id="276" r:id="rId24"/>
    <p:sldId id="282" r:id="rId25"/>
    <p:sldId id="270" r:id="rId26"/>
    <p:sldId id="287" r:id="rId27"/>
    <p:sldId id="294" r:id="rId28"/>
    <p:sldId id="291" r:id="rId29"/>
    <p:sldId id="278" r:id="rId30"/>
    <p:sldId id="293" r:id="rId31"/>
    <p:sldId id="296" r:id="rId32"/>
    <p:sldId id="273" r:id="rId33"/>
    <p:sldId id="277" r:id="rId34"/>
    <p:sldId id="29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6C6A-D0A1-66E2-4A05-A423FC4BB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1821" y="1116649"/>
            <a:ext cx="8361229" cy="2098226"/>
          </a:xfrm>
        </p:spPr>
        <p:txBody>
          <a:bodyPr/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BLOCKBANK GUARDIAN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/>
              <a:t>BANKING  APP USING BLOCKCHAIN Technology</a:t>
            </a: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07701-7251-B8EC-DC95-E01FF2987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7351" y="3429000"/>
            <a:ext cx="6831673" cy="1629512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cs typeface="Times New Roman" panose="02020603050405020304" pitchFamily="18" charset="0"/>
              </a:rPr>
              <a:t>				         </a:t>
            </a:r>
          </a:p>
          <a:p>
            <a:pPr algn="r"/>
            <a:endParaRPr lang="en-IN" sz="2000" dirty="0"/>
          </a:p>
          <a:p>
            <a:pPr algn="l"/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AABE46-B33F-6830-4EA9-99674C879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39212"/>
              </p:ext>
            </p:extLst>
          </p:nvPr>
        </p:nvGraphicFramePr>
        <p:xfrm>
          <a:off x="2032000" y="3643126"/>
          <a:ext cx="8128000" cy="1992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162944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13115361"/>
                    </a:ext>
                  </a:extLst>
                </a:gridCol>
              </a:tblGrid>
              <a:tr h="1992564">
                <a:tc>
                  <a:txBody>
                    <a:bodyPr/>
                    <a:lstStyle/>
                    <a:p>
                      <a:r>
                        <a:rPr lang="en-IN" dirty="0"/>
                        <a:t>GUIDED BY</a:t>
                      </a:r>
                    </a:p>
                    <a:p>
                      <a:r>
                        <a:rPr lang="en-IN" dirty="0"/>
                        <a:t>ASST PROF. VIKAS K SOMAN</a:t>
                      </a:r>
                    </a:p>
                    <a:p>
                      <a:r>
                        <a:rPr lang="en-IN" dirty="0"/>
                        <a:t>DEPT OF CSE</a:t>
                      </a:r>
                    </a:p>
                    <a:p>
                      <a:r>
                        <a:rPr lang="en-IN" dirty="0"/>
                        <a:t>MUSALIAR COLLEGE OF ENGINEERING,</a:t>
                      </a:r>
                    </a:p>
                    <a:p>
                      <a:r>
                        <a:rPr lang="en-IN" dirty="0"/>
                        <a:t>CHIRAYINKEEZHU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PRESENTED BY</a:t>
                      </a:r>
                    </a:p>
                    <a:p>
                      <a:pPr algn="r"/>
                      <a:r>
                        <a:rPr lang="en-IN" dirty="0"/>
                        <a:t>FARZANA M R(MCC20CS022)</a:t>
                      </a:r>
                    </a:p>
                    <a:p>
                      <a:pPr algn="r"/>
                      <a:r>
                        <a:rPr lang="en-IN" dirty="0"/>
                        <a:t>MALAVIKA M S(MCC20CS029)</a:t>
                      </a:r>
                    </a:p>
                    <a:p>
                      <a:pPr algn="r"/>
                      <a:r>
                        <a:rPr lang="en-IN" dirty="0"/>
                        <a:t>NIKHILKUMAR R(MCC20CS037)</a:t>
                      </a:r>
                    </a:p>
                    <a:p>
                      <a:pPr algn="r"/>
                      <a:r>
                        <a:rPr lang="en-IN" dirty="0"/>
                        <a:t>PRANAV P S(MCC20CS038)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21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4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F33E-7A7B-5E87-2AEC-12025B27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9776"/>
          </a:xfrm>
        </p:spPr>
        <p:txBody>
          <a:bodyPr anchor="ctr"/>
          <a:lstStyle/>
          <a:p>
            <a:pPr algn="ctr"/>
            <a:r>
              <a:rPr lang="en-IN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BD5E-BA8C-F987-42AD-C5A138849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5575"/>
            <a:ext cx="9601200" cy="5019869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AREA OF PROJECT</a:t>
            </a:r>
          </a:p>
          <a:p>
            <a:r>
              <a:rPr lang="en-IN" dirty="0"/>
              <a:t>OBJECTIVE OF PROJECT</a:t>
            </a:r>
          </a:p>
          <a:p>
            <a:r>
              <a:rPr lang="en-IN" dirty="0"/>
              <a:t>LITERATURE SURVEY</a:t>
            </a:r>
          </a:p>
          <a:p>
            <a:r>
              <a:rPr lang="en-IN" dirty="0"/>
              <a:t>EXISTING SYSTEM</a:t>
            </a:r>
          </a:p>
          <a:p>
            <a:r>
              <a:rPr lang="en-IN" dirty="0"/>
              <a:t>DISADVANTAGES OF EXISTING SYSTEM</a:t>
            </a:r>
          </a:p>
          <a:p>
            <a:r>
              <a:rPr lang="en-IN" dirty="0"/>
              <a:t>PROPOSED SYSTEM</a:t>
            </a:r>
          </a:p>
          <a:p>
            <a:r>
              <a:rPr lang="en-IN" dirty="0"/>
              <a:t>ADVANTAGES OF PROPOSED SYSTEM</a:t>
            </a:r>
          </a:p>
          <a:p>
            <a:r>
              <a:rPr lang="en-IN" dirty="0"/>
              <a:t>APPLICATION OF PROJECT</a:t>
            </a:r>
          </a:p>
          <a:p>
            <a:r>
              <a:rPr lang="en-IN" dirty="0"/>
              <a:t>MODULES</a:t>
            </a:r>
          </a:p>
          <a:p>
            <a:r>
              <a:rPr lang="en-IN" dirty="0"/>
              <a:t>SYSTEM DESIGN</a:t>
            </a:r>
          </a:p>
          <a:p>
            <a:r>
              <a:rPr lang="en-IN" dirty="0"/>
              <a:t>REQUIREMENTS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FUTURE ENHANCEMENT</a:t>
            </a:r>
          </a:p>
          <a:p>
            <a:r>
              <a:rPr lang="en-IN" dirty="0"/>
              <a:t>ACHIEVEMENTS</a:t>
            </a:r>
          </a:p>
          <a:p>
            <a:r>
              <a:rPr lang="en-IN" dirty="0"/>
              <a:t>REFERENCES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27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37BD-3A4B-4886-5F6F-981B1C2B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73D2D-6557-A009-4C85-8CC2A10A3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Blockchain is a decentralized ledger with interconnected blocks.</a:t>
            </a:r>
          </a:p>
          <a:p>
            <a:pPr algn="just"/>
            <a:r>
              <a:rPr lang="en-US" dirty="0"/>
              <a:t>Once a block is   added, it cannot be altered &amp; ensuring tamper-proof data.</a:t>
            </a:r>
          </a:p>
          <a:p>
            <a:pPr algn="just"/>
            <a:r>
              <a:rPr lang="en-US" dirty="0"/>
              <a:t>Advanced encryption secures digital currency transactions on the platform.</a:t>
            </a:r>
          </a:p>
          <a:p>
            <a:pPr algn="just"/>
            <a:r>
              <a:rPr lang="en-US" dirty="0"/>
              <a:t>Only authorized parties can access and perform transactions on the blockchain. </a:t>
            </a:r>
          </a:p>
          <a:p>
            <a:pPr algn="just"/>
            <a:r>
              <a:rPr lang="en-US" dirty="0"/>
              <a:t>Banks using blockchain can enhance efficiency and reduce operational costs.   </a:t>
            </a:r>
          </a:p>
          <a:p>
            <a:pPr algn="just"/>
            <a:r>
              <a:rPr lang="en-US" dirty="0"/>
              <a:t>Blockchain enables banks to offer improved services to customers securely.  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5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DB29-D922-D47A-CB0F-A64B6A4E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AREA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50C60-B1DF-1E6B-ABBA-320559A0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the era of digital economy, people switches their payments into digital transaction mode.</a:t>
            </a:r>
          </a:p>
          <a:p>
            <a:pPr algn="just"/>
            <a:r>
              <a:rPr lang="en-US" dirty="0"/>
              <a:t>Blockchain technology is boon for the banking sector that enables transactions between people most secure and efficient way.</a:t>
            </a:r>
          </a:p>
          <a:p>
            <a:pPr algn="just"/>
            <a:r>
              <a:rPr lang="en-US" dirty="0"/>
              <a:t>Blockchain transactions involve exchanging digital assets through a decentralized database.</a:t>
            </a:r>
          </a:p>
          <a:p>
            <a:pPr algn="just"/>
            <a:r>
              <a:rPr lang="en-US" dirty="0"/>
              <a:t>Once the data gets recorded by the blockchain, can never be rewritten or changed. Thus the blockchain can be termed as a record book of all the transactions held.</a:t>
            </a:r>
          </a:p>
        </p:txBody>
      </p:sp>
    </p:spTree>
    <p:extLst>
      <p:ext uri="{BB962C8B-B14F-4D97-AF65-F5344CB8AC3E}">
        <p14:creationId xmlns:p14="http://schemas.microsoft.com/office/powerpoint/2010/main" val="175537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9608-A3B2-E2CC-31EA-85D8293C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OBJECTIVE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BBA2-C3C0-FDCE-3F37-F6CBED338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Blockchain implementation aims to bolster security in bank transactions.  </a:t>
            </a:r>
          </a:p>
          <a:p>
            <a:pPr algn="just"/>
            <a:r>
              <a:rPr lang="en-US" dirty="0"/>
              <a:t>Introduces transparency through a decentralized, tamper-resistant ledger.   </a:t>
            </a:r>
          </a:p>
          <a:p>
            <a:pPr algn="just"/>
            <a:r>
              <a:rPr lang="en-US" dirty="0"/>
              <a:t>Aims to streamline processes, reduce fraud, and provide real-time transaction updates.  </a:t>
            </a:r>
          </a:p>
          <a:p>
            <a:pPr algn="just"/>
            <a:r>
              <a:rPr lang="en-US" dirty="0"/>
              <a:t>Utilizes a decentralized ledger to minimize the need for intermediaries.  </a:t>
            </a:r>
          </a:p>
          <a:p>
            <a:pPr algn="just"/>
            <a:r>
              <a:rPr lang="en-US" dirty="0"/>
              <a:t>Intends to reduce fraud by creating a tamper-resistant transaction history.  </a:t>
            </a:r>
          </a:p>
          <a:p>
            <a:pPr algn="just"/>
            <a:r>
              <a:rPr lang="en-US" dirty="0"/>
              <a:t>Ensures real-time updates on transactions for more timely and accurate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81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3FBB-6276-782D-CEFD-EECA4937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LITERATURE SURVEY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3CE74E0-2A75-B6D1-0BC7-95031C3074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906712"/>
              </p:ext>
            </p:extLst>
          </p:nvPr>
        </p:nvGraphicFramePr>
        <p:xfrm>
          <a:off x="1800809" y="2416628"/>
          <a:ext cx="9181322" cy="38908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2378">
                  <a:extLst>
                    <a:ext uri="{9D8B030D-6E8A-4147-A177-3AD203B41FA5}">
                      <a16:colId xmlns:a16="http://schemas.microsoft.com/office/drawing/2014/main" val="152781326"/>
                    </a:ext>
                  </a:extLst>
                </a:gridCol>
                <a:gridCol w="2366456">
                  <a:extLst>
                    <a:ext uri="{9D8B030D-6E8A-4147-A177-3AD203B41FA5}">
                      <a16:colId xmlns:a16="http://schemas.microsoft.com/office/drawing/2014/main" val="3044872569"/>
                    </a:ext>
                  </a:extLst>
                </a:gridCol>
                <a:gridCol w="2373071">
                  <a:extLst>
                    <a:ext uri="{9D8B030D-6E8A-4147-A177-3AD203B41FA5}">
                      <a16:colId xmlns:a16="http://schemas.microsoft.com/office/drawing/2014/main" val="1543833570"/>
                    </a:ext>
                  </a:extLst>
                </a:gridCol>
                <a:gridCol w="2269417">
                  <a:extLst>
                    <a:ext uri="{9D8B030D-6E8A-4147-A177-3AD203B41FA5}">
                      <a16:colId xmlns:a16="http://schemas.microsoft.com/office/drawing/2014/main" val="817740224"/>
                    </a:ext>
                  </a:extLst>
                </a:gridCol>
              </a:tblGrid>
              <a:tr h="588173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32488"/>
                  </a:ext>
                </a:extLst>
              </a:tr>
              <a:tr h="1559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Smart Contract Certificate System Using Ethereum blockchain Technology.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 Raghavender K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Transparancy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Immutability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Decentralization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Scalabilty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Complexity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52688"/>
                  </a:ext>
                </a:extLst>
              </a:tr>
              <a:tr h="1743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Exploring applications of blockchain in healthcare: road map and future directions.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Shishir Kumar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i="0" dirty="0"/>
                        <a:t>Interoperability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i="0" dirty="0"/>
                        <a:t>Patient Empowerment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Regular compliance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02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81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F1E5-ACD0-0E03-6F3F-639143F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LITERATURE SURVEY CONTD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A1EC8-C21F-3C30-0826-F3ED1DE6B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85772"/>
              </p:ext>
            </p:extLst>
          </p:nvPr>
        </p:nvGraphicFramePr>
        <p:xfrm>
          <a:off x="1520890" y="2122714"/>
          <a:ext cx="9601198" cy="40494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299">
                  <a:extLst>
                    <a:ext uri="{9D8B030D-6E8A-4147-A177-3AD203B41FA5}">
                      <a16:colId xmlns:a16="http://schemas.microsoft.com/office/drawing/2014/main" val="510192758"/>
                    </a:ext>
                  </a:extLst>
                </a:gridCol>
                <a:gridCol w="2386304">
                  <a:extLst>
                    <a:ext uri="{9D8B030D-6E8A-4147-A177-3AD203B41FA5}">
                      <a16:colId xmlns:a16="http://schemas.microsoft.com/office/drawing/2014/main" val="400068399"/>
                    </a:ext>
                  </a:extLst>
                </a:gridCol>
                <a:gridCol w="2414296">
                  <a:extLst>
                    <a:ext uri="{9D8B030D-6E8A-4147-A177-3AD203B41FA5}">
                      <a16:colId xmlns:a16="http://schemas.microsoft.com/office/drawing/2014/main" val="69021497"/>
                    </a:ext>
                  </a:extLst>
                </a:gridCol>
                <a:gridCol w="2400299">
                  <a:extLst>
                    <a:ext uri="{9D8B030D-6E8A-4147-A177-3AD203B41FA5}">
                      <a16:colId xmlns:a16="http://schemas.microsoft.com/office/drawing/2014/main" val="2242308710"/>
                    </a:ext>
                  </a:extLst>
                </a:gridCol>
              </a:tblGrid>
              <a:tr h="905756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902663"/>
                  </a:ext>
                </a:extLst>
              </a:tr>
              <a:tr h="157186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Covid-19 chaos-driven phishing/malicious URL attacks by a fuzzy logic and data mining-based intelligence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Syed Rameem Zahra.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 Logic Adaptability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 Datamining technique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operational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Low privacy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086250"/>
                  </a:ext>
                </a:extLst>
              </a:tr>
              <a:tr h="157186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blockchain-based models for student information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Sura 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Immutable student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data Security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 student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More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53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73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29B4-1BB6-58A9-CDA7-42DE35991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LITERATURE SURVEY CONTD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0145F7-6D42-C3AF-C8C7-D88D660E4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9604"/>
              </p:ext>
            </p:extLst>
          </p:nvPr>
        </p:nvGraphicFramePr>
        <p:xfrm>
          <a:off x="1632857" y="2267337"/>
          <a:ext cx="9265300" cy="3517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6325">
                  <a:extLst>
                    <a:ext uri="{9D8B030D-6E8A-4147-A177-3AD203B41FA5}">
                      <a16:colId xmlns:a16="http://schemas.microsoft.com/office/drawing/2014/main" val="1815355329"/>
                    </a:ext>
                  </a:extLst>
                </a:gridCol>
                <a:gridCol w="2316325">
                  <a:extLst>
                    <a:ext uri="{9D8B030D-6E8A-4147-A177-3AD203B41FA5}">
                      <a16:colId xmlns:a16="http://schemas.microsoft.com/office/drawing/2014/main" val="1373275331"/>
                    </a:ext>
                  </a:extLst>
                </a:gridCol>
                <a:gridCol w="2316325">
                  <a:extLst>
                    <a:ext uri="{9D8B030D-6E8A-4147-A177-3AD203B41FA5}">
                      <a16:colId xmlns:a16="http://schemas.microsoft.com/office/drawing/2014/main" val="794772490"/>
                    </a:ext>
                  </a:extLst>
                </a:gridCol>
                <a:gridCol w="2316325">
                  <a:extLst>
                    <a:ext uri="{9D8B030D-6E8A-4147-A177-3AD203B41FA5}">
                      <a16:colId xmlns:a16="http://schemas.microsoft.com/office/drawing/2014/main" val="516977393"/>
                    </a:ext>
                  </a:extLst>
                </a:gridCol>
              </a:tblGrid>
              <a:tr h="539350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05470"/>
                  </a:ext>
                </a:extLst>
              </a:tr>
              <a:tr h="1489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Use of Blockchain in Taxing Digital Products and Services: A Conceptual Model Proposal.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Sabri Erdem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complexity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59153"/>
                  </a:ext>
                </a:extLst>
              </a:tr>
              <a:tr h="148914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Crystal: Enhancing Blockchain Mining Transparency With Quorum Certificate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Victor Leung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transparency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trust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78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80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72C7-FE19-4D82-591E-AD53376D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LITERATURE SURVEY CONTD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C80BBA-E10E-CA04-CF47-CD2F428D5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718666"/>
              </p:ext>
            </p:extLst>
          </p:nvPr>
        </p:nvGraphicFramePr>
        <p:xfrm>
          <a:off x="1371600" y="2285999"/>
          <a:ext cx="9601200" cy="34783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617644018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98070975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57747726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872800779"/>
                    </a:ext>
                  </a:extLst>
                </a:gridCol>
              </a:tblGrid>
              <a:tr h="429209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71569"/>
                  </a:ext>
                </a:extLst>
              </a:tr>
              <a:tr h="152455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 using Blockchain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Hajian.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Security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Tamper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challenges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cyber attack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09311"/>
                  </a:ext>
                </a:extLst>
              </a:tr>
              <a:tr h="152455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Housing rental system based on blockchain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Qingshui Xue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network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user privacy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072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84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CF75-F1C4-2FB0-BB6F-EC3D0760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LITERATURE SURVEY CONTD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F152F6-336B-5F63-E13A-2B32733F7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344302"/>
              </p:ext>
            </p:extLst>
          </p:nvPr>
        </p:nvGraphicFramePr>
        <p:xfrm>
          <a:off x="1371600" y="2285999"/>
          <a:ext cx="9601200" cy="3191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352839180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16449782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75703888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393996322"/>
                    </a:ext>
                  </a:extLst>
                </a:gridCol>
              </a:tblGrid>
              <a:tr h="598326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290280"/>
                  </a:ext>
                </a:extLst>
              </a:tr>
              <a:tr h="129637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in 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Arjun Singh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integrity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Security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Interoperability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challenges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scalability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database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617350"/>
                  </a:ext>
                </a:extLst>
              </a:tr>
              <a:tr h="129637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Estate Management System based on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Ankit Mittal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efficiency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risk between users in real estate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96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1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2BA9-92B2-DA9D-182B-443D71BF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30FB0-1AE4-D628-8C3D-F8989C7E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Use a centralized database for recording and tracking transactions.  </a:t>
            </a:r>
          </a:p>
          <a:p>
            <a:pPr algn="just"/>
            <a:r>
              <a:rPr lang="en-US" dirty="0"/>
              <a:t>Centralized systems have a single point of failure, risking entire transaction failure.   </a:t>
            </a:r>
          </a:p>
          <a:p>
            <a:pPr algn="just"/>
            <a:r>
              <a:rPr lang="en-US" dirty="0"/>
              <a:t>The central authority verifies transaction details and ensures fund transfer from sender to recipient.  </a:t>
            </a:r>
          </a:p>
          <a:p>
            <a:pPr algn="just"/>
            <a:r>
              <a:rPr lang="en-US" dirty="0"/>
              <a:t>Centralized transactions are fast and efficient but lack transparency.   </a:t>
            </a:r>
          </a:p>
          <a:p>
            <a:pPr algn="just"/>
            <a:r>
              <a:rPr lang="en-US" dirty="0"/>
              <a:t>Can be expensive, prone to fraud, and there's uncertainty about transaction success.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59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5C21-90C4-02E3-B5B9-E475F892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AB74-DA16-74C9-EBCD-0C5A4334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 database</a:t>
            </a:r>
          </a:p>
          <a:p>
            <a:r>
              <a:rPr lang="en-US" dirty="0"/>
              <a:t>Lack of transparency</a:t>
            </a:r>
          </a:p>
          <a:p>
            <a:r>
              <a:rPr lang="en-US" dirty="0"/>
              <a:t>Transaction delays</a:t>
            </a:r>
          </a:p>
          <a:p>
            <a:r>
              <a:rPr lang="en-US" dirty="0"/>
              <a:t> Slow transaction processing</a:t>
            </a:r>
          </a:p>
          <a:p>
            <a:r>
              <a:rPr lang="en-US" dirty="0"/>
              <a:t>High  risk of Fraud</a:t>
            </a:r>
          </a:p>
          <a:p>
            <a:r>
              <a:rPr lang="en-US" dirty="0"/>
              <a:t>High security risks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5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344F-287F-1EFC-0EDF-B7D9CBC1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ECC9C-0880-13A7-9A92-15A113772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Proposed system is an application. </a:t>
            </a:r>
          </a:p>
          <a:p>
            <a:r>
              <a:rPr lang="en-IN" dirty="0"/>
              <a:t>Developing for efficient local transaction storage.</a:t>
            </a:r>
          </a:p>
          <a:p>
            <a:r>
              <a:rPr lang="en-IN" dirty="0"/>
              <a:t>Improving processes transparently for users.</a:t>
            </a:r>
          </a:p>
          <a:p>
            <a:r>
              <a:rPr lang="en-IN" dirty="0"/>
              <a:t>Transactions, timestamp, and reference stored in blocks.</a:t>
            </a:r>
          </a:p>
          <a:p>
            <a:r>
              <a:rPr lang="en-IN" dirty="0"/>
              <a:t>Forms chain of blocks.</a:t>
            </a:r>
          </a:p>
          <a:p>
            <a:r>
              <a:rPr lang="en-IN" dirty="0"/>
              <a:t>Removes intermediaries in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4234836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8A88-1F69-3B15-E04D-EE7CE8B1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ADVANTAGES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BAFE-7EF8-E6FE-79A7-726A82289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Decentralization</a:t>
            </a:r>
          </a:p>
          <a:p>
            <a:r>
              <a:rPr lang="en-US" dirty="0"/>
              <a:t>Transparency</a:t>
            </a:r>
          </a:p>
          <a:p>
            <a:r>
              <a:rPr lang="en-US" dirty="0"/>
              <a:t>Immutability</a:t>
            </a:r>
          </a:p>
          <a:p>
            <a:r>
              <a:rPr lang="en-US" dirty="0"/>
              <a:t>Security and accuracy</a:t>
            </a:r>
          </a:p>
          <a:p>
            <a:r>
              <a:rPr lang="en-US" dirty="0"/>
              <a:t>Traceablity</a:t>
            </a:r>
          </a:p>
          <a:p>
            <a:r>
              <a:rPr lang="en-US" dirty="0"/>
              <a:t>Efficiency and speed</a:t>
            </a:r>
          </a:p>
          <a:p>
            <a:r>
              <a:rPr lang="en-US" dirty="0"/>
              <a:t>Consensus Mechanisms</a:t>
            </a:r>
          </a:p>
        </p:txBody>
      </p:sp>
    </p:spTree>
    <p:extLst>
      <p:ext uri="{BB962C8B-B14F-4D97-AF65-F5344CB8AC3E}">
        <p14:creationId xmlns:p14="http://schemas.microsoft.com/office/powerpoint/2010/main" val="553242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D245-1965-03AA-3E5A-40714756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APPLICATION OF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52317-FE8A-08F5-648E-11E3C59F9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Banking And Finance</a:t>
            </a:r>
          </a:p>
          <a:p>
            <a:r>
              <a:rPr lang="en-US" dirty="0"/>
              <a:t>Health Care</a:t>
            </a:r>
          </a:p>
          <a:p>
            <a:r>
              <a:rPr lang="en-US" dirty="0"/>
              <a:t>Real Estate</a:t>
            </a:r>
          </a:p>
          <a:p>
            <a:r>
              <a:rPr lang="en-US" dirty="0"/>
              <a:t>Voting System</a:t>
            </a:r>
          </a:p>
          <a:p>
            <a:r>
              <a:rPr lang="en-US" dirty="0"/>
              <a:t>Identity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27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A745-2A62-ED1D-B64B-0A7F2156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1AB28-9698-2E55-49D8-048487CDC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ADMIN MODULE</a:t>
            </a:r>
          </a:p>
          <a:p>
            <a:pPr algn="just"/>
            <a:r>
              <a:rPr lang="en-US" dirty="0"/>
              <a:t>Admin module manages user verification requests within the blockchain-based application.</a:t>
            </a:r>
          </a:p>
          <a:p>
            <a:pPr algn="just"/>
            <a:r>
              <a:rPr lang="en-US" dirty="0"/>
              <a:t> Acts as a vital communication channel between administrators, users, and customer support representatives.</a:t>
            </a:r>
          </a:p>
          <a:p>
            <a:pPr algn="just"/>
            <a:r>
              <a:rPr lang="en-US" dirty="0"/>
              <a:t> Ensures prompt resolution of user verification requests and efficient handling of customer inquiries and issues. </a:t>
            </a:r>
          </a:p>
          <a:p>
            <a:pPr algn="just"/>
            <a:r>
              <a:rPr lang="en-US" dirty="0"/>
              <a:t>Provides essential functionalities for facilitating customer support interactions.</a:t>
            </a:r>
          </a:p>
          <a:p>
            <a:pPr algn="just"/>
            <a:r>
              <a:rPr lang="en-US" dirty="0"/>
              <a:t> Aims to streamline the process of user verification and customer support interactions for enhanced efficiency.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78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3E2563-C4CD-39F4-69F1-E57FD0C4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b="1" dirty="0"/>
              <a:t>ADMIN MODULE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64467F-58CD-A34A-CC42-CCFB52D61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501" y="2171700"/>
            <a:ext cx="1689217" cy="35814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3934E-A039-F40C-8962-6FF8F2156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75" y="2171700"/>
            <a:ext cx="1848084" cy="358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EB56DD-F90F-E704-02BB-10B6ACD83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116" y="2171700"/>
            <a:ext cx="1848084" cy="3581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2E3E06-ABA5-11DD-1CAC-0B70A3FA5D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867" y="2171700"/>
            <a:ext cx="168921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9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F0EA-B148-7BE9-CFE6-69AB80AA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MODULES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AC8E-F0BE-A646-36E5-F0E22235A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BANK MANAGER MODULE</a:t>
            </a:r>
          </a:p>
          <a:p>
            <a:pPr algn="just"/>
            <a:r>
              <a:rPr lang="en-US" dirty="0"/>
              <a:t>Bank Manager Dashboard is the hub for overseeing and administering customer accounts and transactions.</a:t>
            </a:r>
          </a:p>
          <a:p>
            <a:pPr algn="just"/>
            <a:r>
              <a:rPr lang="en-US" dirty="0"/>
              <a:t>Provides tools and functionalities for efficient management and monitoring of customer accounts and transactions. </a:t>
            </a:r>
          </a:p>
          <a:p>
            <a:pPr algn="just"/>
            <a:r>
              <a:rPr lang="en-US" dirty="0"/>
              <a:t>Generates reports to ensure compliance with regulations and aids in strategic decision-making.</a:t>
            </a:r>
          </a:p>
          <a:p>
            <a:pPr algn="just"/>
            <a:r>
              <a:rPr lang="en-US" dirty="0"/>
              <a:t> Empowers bank managers with the necessary tools to manage accounts and monitor transaction activities efficiently. </a:t>
            </a:r>
          </a:p>
          <a:p>
            <a:pPr algn="just"/>
            <a:r>
              <a:rPr lang="en-US" dirty="0"/>
              <a:t>Facilitates strategic decision-making by offering comprehensive control and oversight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3277425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D7AF-F332-AFD9-8C26-D4DE3DDD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BANK MANAGER MODULE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EC8B26-47E6-AF36-E9F1-35098DDEB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831" y="2171700"/>
            <a:ext cx="1611630" cy="35814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D9D-2B65-85D7-AAFE-93DDCE7E0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029" y="2171700"/>
            <a:ext cx="1611630" cy="358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AC6B16-6C74-6A55-8FC5-6CFDCDD70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121" y="2171700"/>
            <a:ext cx="180904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82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FEC2-9479-B6B4-DF81-E1F0F384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BANK MANAGER MODULE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5FC30C-E178-CE42-2FD9-527C66A3D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2854" y="2349500"/>
            <a:ext cx="1696452" cy="358140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C52017-08AF-BF41-0AF5-C31946AD1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689" y="2357120"/>
            <a:ext cx="1717874" cy="3581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3114FC-EEE6-9AF6-D8EC-764E4E9D9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391" y="2349500"/>
            <a:ext cx="180904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5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1AB5-902D-A46B-C003-A07ECC0D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MODULES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F0BC7-E379-DA2F-A0FA-C1B8C31A1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USER  MODULE</a:t>
            </a:r>
          </a:p>
          <a:p>
            <a:pPr algn="just"/>
            <a:r>
              <a:rPr lang="en-US" dirty="0"/>
              <a:t>The User module is where users engage with the blockchain-based application.</a:t>
            </a:r>
          </a:p>
          <a:p>
            <a:pPr algn="just"/>
            <a:r>
              <a:rPr lang="en-US" dirty="0"/>
              <a:t>Users can access and manage their accounts and transactions within the interface. Designed for a smooth and hassle-free user experience.</a:t>
            </a:r>
          </a:p>
          <a:p>
            <a:pPr algn="just"/>
            <a:r>
              <a:rPr lang="en-US" dirty="0"/>
              <a:t>Prioritizes security to ensure user data and transactions are protected. </a:t>
            </a:r>
          </a:p>
          <a:p>
            <a:pPr algn="just"/>
            <a:r>
              <a:rPr lang="en-US" dirty="0"/>
              <a:t>Empowers users to perform various actions related to their virtual money holdings with ease.</a:t>
            </a:r>
            <a:endParaRPr lang="en-IN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73423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D549-F0AB-1B79-45B5-1BEEBA42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USER MANAGEMENT MODULE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D69D44-FF27-6530-FD5D-F00EF893F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065" y="2171700"/>
            <a:ext cx="1611630" cy="35814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7164C-4893-665C-D874-EDD19C90B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40" y="2152650"/>
            <a:ext cx="1611630" cy="3600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DC37C8-3D3E-F61B-BAD0-48182A480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13" y="2138362"/>
            <a:ext cx="1762758" cy="3629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A099BC-FCC4-2A00-25EF-7FA68C23F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314" y="2162175"/>
            <a:ext cx="1971038" cy="3629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EEADA9-77F1-B690-FCAF-D872F6C5E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995" y="2171700"/>
            <a:ext cx="1762758" cy="365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C6EE-CB5A-EC0A-903B-7A79E8D3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MODULES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8CBF-655B-5A28-E6E4-14D8BB4CC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CUSTOMER SUPPORT MODULE</a:t>
            </a:r>
          </a:p>
          <a:p>
            <a:pPr algn="just"/>
            <a:r>
              <a:rPr lang="en-US" dirty="0"/>
              <a:t>Customer Support module is a dedicated platform within the blockchain-based application. </a:t>
            </a:r>
          </a:p>
          <a:p>
            <a:pPr algn="just"/>
            <a:r>
              <a:rPr lang="en-US" dirty="0"/>
              <a:t>Users can seek assistance and resolve inquiries effectively through this module.</a:t>
            </a:r>
          </a:p>
          <a:p>
            <a:pPr algn="just"/>
            <a:r>
              <a:rPr lang="en-US" dirty="0"/>
              <a:t> Facilitates effective communication between users and support representatives.</a:t>
            </a:r>
          </a:p>
          <a:p>
            <a:pPr algn="just"/>
            <a:r>
              <a:rPr lang="en-US" dirty="0"/>
              <a:t>Prioritizes responsive and personalized customer service to enhance user satisfaction.</a:t>
            </a:r>
          </a:p>
          <a:p>
            <a:pPr algn="just"/>
            <a:r>
              <a:rPr lang="en-US" dirty="0"/>
              <a:t> Aims to resolve issues promptly to ensure a positive user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586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2CB0-5FF9-C366-D1B4-D6471E40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CUSTOMER SUPPORT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AC1D9B-56C8-9D15-AE3C-2E40608F5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2556" y="2379307"/>
            <a:ext cx="1808855" cy="3581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BD1501-E459-1821-7AFD-573BA5595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09" y="2276667"/>
            <a:ext cx="1997140" cy="3684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706D0-897D-4DF6-BCB2-F9775AD3C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548" y="2276667"/>
            <a:ext cx="2146428" cy="368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4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C712-F1C3-E566-EDD4-FB85D139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110" y="363894"/>
            <a:ext cx="5751882" cy="902737"/>
          </a:xfrm>
        </p:spPr>
        <p:txBody>
          <a:bodyPr anchor="ctr"/>
          <a:lstStyle/>
          <a:p>
            <a:pPr algn="ctr"/>
            <a:r>
              <a:rPr lang="en-IN" b="1" dirty="0"/>
              <a:t>SYSTEM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7D7195-01D5-DFC4-796F-6C67C1511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7502" y="1464906"/>
            <a:ext cx="8948057" cy="4402494"/>
          </a:xfrm>
        </p:spPr>
      </p:pic>
    </p:spTree>
    <p:extLst>
      <p:ext uri="{BB962C8B-B14F-4D97-AF65-F5344CB8AC3E}">
        <p14:creationId xmlns:p14="http://schemas.microsoft.com/office/powerpoint/2010/main" val="2694034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E9A2-1BE3-3624-46BB-8268E106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089" y="707882"/>
            <a:ext cx="7016622" cy="648478"/>
          </a:xfrm>
        </p:spPr>
        <p:txBody>
          <a:bodyPr>
            <a:noAutofit/>
          </a:bodyPr>
          <a:lstStyle/>
          <a:p>
            <a:r>
              <a:rPr lang="en-IN" b="1" dirty="0"/>
              <a:t>             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FDA1-B80A-CCD1-179A-F83A4D4B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444" y="1717040"/>
            <a:ext cx="9069355" cy="428752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Development Environment: Set up development environments for Flutter, Ethereum, and Firebase </a:t>
            </a:r>
          </a:p>
          <a:p>
            <a:pPr algn="just"/>
            <a:r>
              <a:rPr lang="en-IN" dirty="0"/>
              <a:t> Programming Languages:  Dart (for Flutter), Solidity (For Ethereum), and JavaScript (for Firebase).</a:t>
            </a:r>
          </a:p>
          <a:p>
            <a:pPr algn="just"/>
            <a:r>
              <a:rPr lang="en-IN" dirty="0"/>
              <a:t> IDE: IAndroid Studio for Flutter and Visual Studio Code for Ethereum</a:t>
            </a:r>
          </a:p>
          <a:p>
            <a:pPr algn="just"/>
            <a:r>
              <a:rPr lang="en-IN" dirty="0"/>
              <a:t>Database Design:  Firebase Realtime Database is to store user data, transactions, and other relevant information. </a:t>
            </a:r>
          </a:p>
          <a:p>
            <a:pPr algn="just"/>
            <a:r>
              <a:rPr lang="en-IN" dirty="0"/>
              <a:t>Blockchain Smart Contracts: Develop and test smart contracts (Solidity) for Ethereum to manage banking operations securely. </a:t>
            </a:r>
          </a:p>
          <a:p>
            <a:pPr algn="just"/>
            <a:r>
              <a:rPr lang="en-IN" dirty="0"/>
              <a:t>API Development: Create restful or  APIs for communication between the Flutter app and the Ganache Ethereum blockchain app.</a:t>
            </a:r>
          </a:p>
        </p:txBody>
      </p:sp>
    </p:spTree>
    <p:extLst>
      <p:ext uri="{BB962C8B-B14F-4D97-AF65-F5344CB8AC3E}">
        <p14:creationId xmlns:p14="http://schemas.microsoft.com/office/powerpoint/2010/main" val="1330456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8636-CB2B-8FB7-E8F8-0FA743C9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FDB07B-D981-5912-7C13-F5141CD35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714" y="2304661"/>
            <a:ext cx="2189899" cy="404015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5A7A3-F9F8-87A8-9D0A-88733A0E7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41" y="2304661"/>
            <a:ext cx="1960481" cy="404015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0F2CD85C-367A-24B4-A65B-2C927089C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08" y="2384748"/>
            <a:ext cx="1960481" cy="39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49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DB07-D365-3EC8-668D-E21768D3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3D82D-AC98-8A76-9866-5D97307A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79" y="2199692"/>
            <a:ext cx="1704401" cy="3663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D00F3E-A89E-E22C-1048-75C5DE65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099" y="2129519"/>
            <a:ext cx="1932988" cy="3622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B70E16-0F08-1763-DAAF-929130867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819" y="2088697"/>
            <a:ext cx="1704401" cy="3663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3867D-9F8E-FEC1-84D0-854A6723A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660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A3B4-C393-26BA-9A46-759CF604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08000"/>
            <a:ext cx="9601200" cy="924560"/>
          </a:xfrm>
        </p:spPr>
        <p:txBody>
          <a:bodyPr anchor="ctr"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9BB49-E19D-1D2A-98A2-836B0A43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160"/>
            <a:ext cx="9601200" cy="407924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Leveraged Ethereum blockchain for secure banking applications.</a:t>
            </a:r>
          </a:p>
          <a:p>
            <a:pPr algn="just"/>
            <a:r>
              <a:rPr lang="en-US" dirty="0"/>
              <a:t>Integrated Flutter and Ganache for user-friendly interface and local blockchain testing.</a:t>
            </a:r>
          </a:p>
          <a:p>
            <a:pPr algn="just"/>
            <a:r>
              <a:rPr lang="en-US" dirty="0"/>
              <a:t>Enabled account creation, fund transfers, and profile management through Solidity smart contracts.</a:t>
            </a:r>
          </a:p>
          <a:p>
            <a:pPr algn="just"/>
            <a:r>
              <a:rPr lang="en-US" dirty="0"/>
              <a:t>Provided secure financial services worldwide, promoting transparency and accessibility.</a:t>
            </a:r>
          </a:p>
          <a:p>
            <a:pPr algn="just"/>
            <a:r>
              <a:rPr lang="en-US" dirty="0"/>
              <a:t>Demonstrated blockchain's role in enhancing security and transparency, aiming for seamless integration into daily banking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922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E128-5F6E-605F-93BB-2D660F9F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B6623-E018-E515-006E-431CFB61F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Expand into DeFi for advanced financial services.</a:t>
            </a:r>
            <a:endParaRPr lang="en-IN" dirty="0"/>
          </a:p>
          <a:p>
            <a:r>
              <a:rPr lang="en-US" dirty="0"/>
              <a:t>Offer lending and borrowing.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336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DD6D-7C59-C25C-1E15-D1696772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0E86-0ACE-ECE1-1D26-7DA3F11B4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Our paper on the project has been accepted to the national conference on Interdisciplinary perspectives of emerging trends in computing-24 conducted on 12 April 2024 at  Carmel College of Engineering and Technology, </a:t>
            </a:r>
            <a:r>
              <a:rPr lang="en-IN" dirty="0" err="1"/>
              <a:t>Punnapra</a:t>
            </a:r>
            <a:r>
              <a:rPr lang="en-IN" dirty="0"/>
              <a:t>, Alappuzha.</a:t>
            </a:r>
          </a:p>
        </p:txBody>
      </p:sp>
    </p:spTree>
    <p:extLst>
      <p:ext uri="{BB962C8B-B14F-4D97-AF65-F5344CB8AC3E}">
        <p14:creationId xmlns:p14="http://schemas.microsoft.com/office/powerpoint/2010/main" val="1093286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5731-A946-E301-90FA-C553DD5D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D6D5-1F53-D210-1E14-8B0277EA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S.Nakomoto, “Bitcoin: A Peer-to-Peer Electronic Cash System”. Cryptography Mailing list at https://metzdowd.com. Oct 2008. </a:t>
            </a:r>
          </a:p>
          <a:p>
            <a:pPr algn="just"/>
            <a:r>
              <a:rPr lang="en-IN" dirty="0"/>
              <a:t>Androulaki, Elli, Artem Barger, Vita Bortnikov, Christian Cachin, Konstantinos Christidis, Angelo De Caro, David Enyeart et al. "Hyperledger fabric: a distributed operating system for permissioned blockchains." In Proceedings of the thirteenth EuroSys conference, pp. 1-15. 2018. </a:t>
            </a:r>
          </a:p>
          <a:p>
            <a:pPr algn="just"/>
            <a:r>
              <a:rPr lang="en-IN" dirty="0"/>
              <a:t>P. Hooda, "Proof of Work (PoW) Consensus - GeeksforGeeks", GeeksforGeeks, 2019. [Online]. Available: https:// www.geeksforgeeks.org/proof-of-work-pow-consensus/. </a:t>
            </a:r>
          </a:p>
          <a:p>
            <a:pPr algn="just"/>
            <a:r>
              <a:rPr lang="en-IN" dirty="0"/>
              <a:t>P. Hooda, "practical Byzantine Fault Tolerance,", GeeksforGeeks, 2019. [Online]. Available: https://www.geeksforgeeks. org/practical-byzantine-fault-tolerancepbft/. </a:t>
            </a:r>
          </a:p>
        </p:txBody>
      </p:sp>
    </p:spTree>
    <p:extLst>
      <p:ext uri="{BB962C8B-B14F-4D97-AF65-F5344CB8AC3E}">
        <p14:creationId xmlns:p14="http://schemas.microsoft.com/office/powerpoint/2010/main" val="3272126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620B-AEEC-F346-B227-150FBFE6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REFERENCES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945C-BC39-A4DC-E386-5378FAE16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P. Javeri, "Smart Contracts and Blockchains", Medium, 2019. [Online]. Available:https://medium.com/@prashunjaveri/smart-contracts-and-blockchains-c24538418bf6. </a:t>
            </a:r>
          </a:p>
          <a:p>
            <a:pPr algn="just"/>
            <a:r>
              <a:rPr lang="en-IN" dirty="0"/>
              <a:t>W. Kenton, "Proof of Burn (Cryptocurrency) Definition", Investopedia, 2019. [Online]. Available: https://www.investopedia.com/ terms/p/proof-burn-cryptocurrency.asp. </a:t>
            </a:r>
          </a:p>
          <a:p>
            <a:pPr algn="just"/>
            <a:r>
              <a:rPr lang="en-IN" dirty="0"/>
              <a:t>P. Hooda, "Proof of Stake (PoS) in Blockchain,", GeeksforGeeks, 2019. [Online]. Available: https://www.geeksforgeeks. org/proof-of-stake-pos-in-blockchain/. </a:t>
            </a:r>
          </a:p>
          <a:p>
            <a:pPr algn="just"/>
            <a:r>
              <a:rPr lang="en-IN" dirty="0"/>
              <a:t>T. Marler, "Hyperledger Fabric: Transaction," Medium, 2018. [Online]. Available: Hyperledger Fabric Medium </a:t>
            </a:r>
          </a:p>
          <a:p>
            <a:pPr algn="just"/>
            <a:r>
              <a:rPr lang="en-IN" dirty="0"/>
              <a:t>P. B, "Architecting a Hyperledger Solution - Things to keep in mind," Hackernoon, 2018. [Online]. Available: Hyperledger Fabric Hackernoon</a:t>
            </a:r>
          </a:p>
        </p:txBody>
      </p:sp>
    </p:spTree>
    <p:extLst>
      <p:ext uri="{BB962C8B-B14F-4D97-AF65-F5344CB8AC3E}">
        <p14:creationId xmlns:p14="http://schemas.microsoft.com/office/powerpoint/2010/main" val="1641034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314004-C57B-F46A-352D-9A8899A8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04" y="2015413"/>
            <a:ext cx="9601200" cy="2985794"/>
          </a:xfrm>
        </p:spPr>
        <p:txBody>
          <a:bodyPr anchor="ctr"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004765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{FD442C1F-E425-4255-A08D-93BD4A60AF90}tf10001105</Template>
  <TotalTime>1052</TotalTime>
  <Words>1552</Words>
  <Application>Microsoft Office PowerPoint</Application>
  <PresentationFormat>Widescreen</PresentationFormat>
  <Paragraphs>249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Franklin Gothic Book</vt:lpstr>
      <vt:lpstr>Times New Roman</vt:lpstr>
      <vt:lpstr>Crop</vt:lpstr>
      <vt:lpstr>BLOCKBANK GUARDIAN BANKING  APP USING BLOCKCHAIN Technology</vt:lpstr>
      <vt:lpstr>CONTENTS</vt:lpstr>
      <vt:lpstr>INTRODUCTION</vt:lpstr>
      <vt:lpstr>AREA OF PROJECT</vt:lpstr>
      <vt:lpstr>OBJECTIVE OF PROJECT</vt:lpstr>
      <vt:lpstr>LITERATURE SURVEY</vt:lpstr>
      <vt:lpstr>LITERATURE SURVEY CONTD</vt:lpstr>
      <vt:lpstr>LITERATURE SURVEY CONTD</vt:lpstr>
      <vt:lpstr>LITERATURE SURVEY CONTD</vt:lpstr>
      <vt:lpstr>LITERATURE SURVEY CONTD</vt:lpstr>
      <vt:lpstr>EXISTING SYSTEM</vt:lpstr>
      <vt:lpstr>DISADVANTAGES OF EXISTING SYSTEM</vt:lpstr>
      <vt:lpstr>PROPOSED SYSTEM</vt:lpstr>
      <vt:lpstr>ADVANTAGES OF PROPOSED SYSTEM</vt:lpstr>
      <vt:lpstr>APPLICATION OF TECHNOLOGY</vt:lpstr>
      <vt:lpstr>MODULES</vt:lpstr>
      <vt:lpstr>ADMIN MODULE</vt:lpstr>
      <vt:lpstr>MODULES CONTD</vt:lpstr>
      <vt:lpstr>BANK MANAGER MODULE</vt:lpstr>
      <vt:lpstr>BANK MANAGER MODULE</vt:lpstr>
      <vt:lpstr>MODULES CONTD</vt:lpstr>
      <vt:lpstr>USER MANAGEMENT MODULE</vt:lpstr>
      <vt:lpstr>MODULES CONTD</vt:lpstr>
      <vt:lpstr>CUSTOMER SUPPORT MODULE</vt:lpstr>
      <vt:lpstr>SYSTEM DESIGN</vt:lpstr>
      <vt:lpstr>              REQUIREMENTS</vt:lpstr>
      <vt:lpstr>OUTPUT</vt:lpstr>
      <vt:lpstr>OUTPUT</vt:lpstr>
      <vt:lpstr>CONCLUSION</vt:lpstr>
      <vt:lpstr>FUTURE ENHANCEMENT</vt:lpstr>
      <vt:lpstr>ACHIEVEMENTS</vt:lpstr>
      <vt:lpstr>REFERENCES</vt:lpstr>
      <vt:lpstr>REFERENCES CONTD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ziya farsana</dc:creator>
  <cp:lastModifiedBy>FARZANA MR</cp:lastModifiedBy>
  <cp:revision>16</cp:revision>
  <cp:lastPrinted>2024-04-29T03:45:45Z</cp:lastPrinted>
  <dcterms:created xsi:type="dcterms:W3CDTF">2024-01-28T15:41:38Z</dcterms:created>
  <dcterms:modified xsi:type="dcterms:W3CDTF">2024-05-14T04:25:26Z</dcterms:modified>
</cp:coreProperties>
</file>