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9"/>
  </p:notesMasterIdLst>
  <p:sldIdLst>
    <p:sldId id="256" r:id="rId2"/>
    <p:sldId id="714" r:id="rId3"/>
    <p:sldId id="716" r:id="rId4"/>
    <p:sldId id="717" r:id="rId5"/>
    <p:sldId id="719" r:id="rId6"/>
    <p:sldId id="722" r:id="rId7"/>
    <p:sldId id="720" r:id="rId8"/>
    <p:sldId id="721" r:id="rId9"/>
    <p:sldId id="723" r:id="rId10"/>
    <p:sldId id="724" r:id="rId11"/>
    <p:sldId id="742" r:id="rId12"/>
    <p:sldId id="727" r:id="rId13"/>
    <p:sldId id="725" r:id="rId14"/>
    <p:sldId id="726" r:id="rId15"/>
    <p:sldId id="728" r:id="rId16"/>
    <p:sldId id="738" r:id="rId17"/>
    <p:sldId id="730" r:id="rId18"/>
    <p:sldId id="740" r:id="rId19"/>
    <p:sldId id="741" r:id="rId20"/>
    <p:sldId id="739" r:id="rId21"/>
    <p:sldId id="736" r:id="rId22"/>
    <p:sldId id="731" r:id="rId23"/>
    <p:sldId id="732" r:id="rId24"/>
    <p:sldId id="733" r:id="rId25"/>
    <p:sldId id="734" r:id="rId26"/>
    <p:sldId id="737" r:id="rId27"/>
    <p:sldId id="30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391" autoAdjust="0"/>
  </p:normalViewPr>
  <p:slideViewPr>
    <p:cSldViewPr snapToGrid="0">
      <p:cViewPr varScale="1">
        <p:scale>
          <a:sx n="85" d="100"/>
          <a:sy n="85" d="100"/>
        </p:scale>
        <p:origin x="590" y="53"/>
      </p:cViewPr>
      <p:guideLst/>
    </p:cSldViewPr>
  </p:slideViewPr>
  <p:outlineViewPr>
    <p:cViewPr>
      <p:scale>
        <a:sx n="33" d="100"/>
        <a:sy n="33" d="100"/>
      </p:scale>
      <p:origin x="0" y="-21211"/>
    </p:cViewPr>
  </p:outlin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21-02-2026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5</a:t>
            </a:fld>
            <a:endParaRPr lang="en-IN" dirty="0"/>
          </a:p>
        </p:txBody>
      </p:sp>
    </p:spTree>
    <p:extLst>
      <p:ext uri="{BB962C8B-B14F-4D97-AF65-F5344CB8AC3E}">
        <p14:creationId xmlns:p14="http://schemas.microsoft.com/office/powerpoint/2010/main" val="3363873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2541135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37014193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89"/>
            <a:ext cx="12192000" cy="21658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6000" b="1" dirty="0"/>
              <a:t>WATER POTABILITY PREDICTION </a:t>
            </a:r>
          </a:p>
          <a:p>
            <a:pPr algn="ctr"/>
            <a:r>
              <a:rPr lang="en-IN" sz="3200" b="1" dirty="0"/>
              <a:t>PRESENTED BY </a:t>
            </a:r>
          </a:p>
          <a:p>
            <a:pPr algn="ctr"/>
            <a:r>
              <a:rPr lang="en-IN" sz="3200" b="1" dirty="0"/>
              <a:t>FARZANA  M R</a:t>
            </a:r>
          </a:p>
          <a:p>
            <a:pPr algn="r"/>
            <a:r>
              <a:rPr lang="en-IN" sz="3200" b="1" dirty="0"/>
              <a:t>	</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normAutofit/>
          </a:bodyPr>
          <a:lstStyle/>
          <a:p>
            <a:r>
              <a:rPr lang="en-US" dirty="0"/>
              <a:t>Access to safe drinking water is essential for human health and survival.</a:t>
            </a:r>
            <a:br>
              <a:rPr lang="en-US" dirty="0"/>
            </a:br>
            <a:r>
              <a:rPr lang="en-US" dirty="0"/>
              <a:t>Water contamination can lead to serious health risks and diseases.</a:t>
            </a:r>
          </a:p>
          <a:p>
            <a:r>
              <a:rPr lang="en-US" dirty="0"/>
              <a:t>Traditional water quality testing:</a:t>
            </a:r>
          </a:p>
          <a:p>
            <a:pPr>
              <a:buFont typeface="Wingdings" panose="05000000000000000000" pitchFamily="2" charset="2"/>
              <a:buChar char="ü"/>
            </a:pPr>
            <a:r>
              <a:rPr lang="en-US" dirty="0"/>
              <a:t>Requires laboratory analysis</a:t>
            </a:r>
          </a:p>
          <a:p>
            <a:pPr>
              <a:buFont typeface="Wingdings" panose="05000000000000000000" pitchFamily="2" charset="2"/>
              <a:buChar char="ü"/>
            </a:pPr>
            <a:r>
              <a:rPr lang="en-US" dirty="0"/>
              <a:t>Time-consuming</a:t>
            </a:r>
          </a:p>
          <a:p>
            <a:pPr>
              <a:buFont typeface="Wingdings" panose="05000000000000000000" pitchFamily="2" charset="2"/>
              <a:buChar char="ü"/>
            </a:pPr>
            <a:r>
              <a:rPr lang="en-US" dirty="0"/>
              <a:t>Expensive</a:t>
            </a:r>
          </a:p>
          <a:p>
            <a:pPr>
              <a:buFont typeface="Wingdings" panose="05000000000000000000" pitchFamily="2" charset="2"/>
              <a:buChar char="ü"/>
            </a:pPr>
            <a:r>
              <a:rPr lang="en-US" dirty="0"/>
              <a:t>Not always accessible</a:t>
            </a:r>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2D359-BA61-AC3E-52BB-1A269A7D1862}"/>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EBA9B3C-824D-9FFF-4A21-29B7F98D611B}"/>
              </a:ext>
            </a:extLst>
          </p:cNvPr>
          <p:cNvSpPr>
            <a:spLocks noGrp="1"/>
          </p:cNvSpPr>
          <p:nvPr>
            <p:ph idx="1"/>
          </p:nvPr>
        </p:nvSpPr>
        <p:spPr/>
        <p:txBody>
          <a:bodyPr/>
          <a:lstStyle/>
          <a:p>
            <a:r>
              <a:rPr lang="en-US" b="1" dirty="0"/>
              <a:t>Problem</a:t>
            </a:r>
          </a:p>
          <a:p>
            <a:r>
              <a:rPr lang="en-US" dirty="0"/>
              <a:t>Determine whether water is </a:t>
            </a:r>
            <a:r>
              <a:rPr lang="en-US" b="1" dirty="0"/>
              <a:t>Potable (Safe)</a:t>
            </a:r>
            <a:r>
              <a:rPr lang="en-US" dirty="0"/>
              <a:t> or </a:t>
            </a:r>
            <a:r>
              <a:rPr lang="en-US" b="1" dirty="0"/>
              <a:t>Not Potable.</a:t>
            </a:r>
            <a:endParaRPr lang="en-US" dirty="0"/>
          </a:p>
          <a:p>
            <a:r>
              <a:rPr lang="en-US" dirty="0"/>
              <a:t>Based on chemical and physical parameters.</a:t>
            </a:r>
          </a:p>
          <a:p>
            <a:r>
              <a:rPr lang="en-US" dirty="0"/>
              <a:t>Manual analysis is slow and error-prone.</a:t>
            </a:r>
          </a:p>
          <a:p>
            <a:r>
              <a:rPr lang="en-US" b="1" dirty="0"/>
              <a:t>Solution</a:t>
            </a:r>
          </a:p>
          <a:p>
            <a:r>
              <a:rPr lang="en-US" dirty="0"/>
              <a:t>Machine Learning classification models.</a:t>
            </a:r>
          </a:p>
          <a:p>
            <a:r>
              <a:rPr lang="en-US" dirty="0"/>
              <a:t>Real-time prediction API.</a:t>
            </a:r>
          </a:p>
          <a:p>
            <a:r>
              <a:rPr lang="en-US" dirty="0"/>
              <a:t>Interactive </a:t>
            </a:r>
            <a:r>
              <a:rPr lang="en-US" dirty="0" err="1"/>
              <a:t>visualisation</a:t>
            </a:r>
            <a:r>
              <a:rPr lang="en-US" dirty="0"/>
              <a:t> dashboard.</a:t>
            </a:r>
          </a:p>
          <a:p>
            <a:endParaRPr lang="en-IN" dirty="0"/>
          </a:p>
        </p:txBody>
      </p:sp>
    </p:spTree>
    <p:extLst>
      <p:ext uri="{BB962C8B-B14F-4D97-AF65-F5344CB8AC3E}">
        <p14:creationId xmlns:p14="http://schemas.microsoft.com/office/powerpoint/2010/main" val="3416965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24878-67FA-5115-7369-E513ABB97C56}"/>
              </a:ext>
            </a:extLst>
          </p:cNvPr>
          <p:cNvSpPr>
            <a:spLocks noGrp="1"/>
          </p:cNvSpPr>
          <p:nvPr>
            <p:ph type="title"/>
          </p:nvPr>
        </p:nvSpPr>
        <p:spPr/>
        <p:txBody>
          <a:bodyPr/>
          <a:lstStyle/>
          <a:p>
            <a:r>
              <a:rPr lang="en-IN" dirty="0"/>
              <a:t>DATASET FEATURES</a:t>
            </a:r>
          </a:p>
        </p:txBody>
      </p:sp>
      <p:sp>
        <p:nvSpPr>
          <p:cNvPr id="3" name="Content Placeholder 2">
            <a:extLst>
              <a:ext uri="{FF2B5EF4-FFF2-40B4-BE49-F238E27FC236}">
                <a16:creationId xmlns:a16="http://schemas.microsoft.com/office/drawing/2014/main" id="{9F7CEA77-90DE-72E5-A221-AE06A4C15E18}"/>
              </a:ext>
            </a:extLst>
          </p:cNvPr>
          <p:cNvSpPr>
            <a:spLocks noGrp="1"/>
          </p:cNvSpPr>
          <p:nvPr>
            <p:ph sz="half" idx="1"/>
          </p:nvPr>
        </p:nvSpPr>
        <p:spPr/>
        <p:txBody>
          <a:bodyPr>
            <a:normAutofit fontScale="92500" lnSpcReduction="20000"/>
          </a:bodyPr>
          <a:lstStyle/>
          <a:p>
            <a:pPr marL="0" indent="0">
              <a:buNone/>
            </a:pPr>
            <a:r>
              <a:rPr lang="en-IN" b="1" dirty="0"/>
              <a:t>Input Features</a:t>
            </a:r>
          </a:p>
          <a:p>
            <a:r>
              <a:rPr lang="en-IN" dirty="0"/>
              <a:t>pH</a:t>
            </a:r>
          </a:p>
          <a:p>
            <a:r>
              <a:rPr lang="en-IN" dirty="0"/>
              <a:t>Hardness</a:t>
            </a:r>
          </a:p>
          <a:p>
            <a:r>
              <a:rPr lang="en-IN" dirty="0"/>
              <a:t>Solids</a:t>
            </a:r>
          </a:p>
          <a:p>
            <a:r>
              <a:rPr lang="en-IN" dirty="0"/>
              <a:t>Chloramines</a:t>
            </a:r>
          </a:p>
          <a:p>
            <a:r>
              <a:rPr lang="en-IN" dirty="0" err="1"/>
              <a:t>Sulfate</a:t>
            </a:r>
            <a:endParaRPr lang="en-IN" dirty="0"/>
          </a:p>
          <a:p>
            <a:r>
              <a:rPr lang="en-IN" dirty="0"/>
              <a:t>Conductivity</a:t>
            </a:r>
          </a:p>
          <a:p>
            <a:r>
              <a:rPr lang="en-IN" dirty="0"/>
              <a:t>Organic Carbon</a:t>
            </a:r>
          </a:p>
          <a:p>
            <a:r>
              <a:rPr lang="en-IN" dirty="0"/>
              <a:t>Trihalomethanes</a:t>
            </a:r>
          </a:p>
          <a:p>
            <a:r>
              <a:rPr lang="en-IN" dirty="0"/>
              <a:t>Turbidity</a:t>
            </a:r>
          </a:p>
        </p:txBody>
      </p:sp>
      <p:sp>
        <p:nvSpPr>
          <p:cNvPr id="4" name="Content Placeholder 3">
            <a:extLst>
              <a:ext uri="{FF2B5EF4-FFF2-40B4-BE49-F238E27FC236}">
                <a16:creationId xmlns:a16="http://schemas.microsoft.com/office/drawing/2014/main" id="{09808A1D-A6B6-E706-53B7-D363CF293E27}"/>
              </a:ext>
            </a:extLst>
          </p:cNvPr>
          <p:cNvSpPr>
            <a:spLocks noGrp="1"/>
          </p:cNvSpPr>
          <p:nvPr>
            <p:ph sz="half" idx="2"/>
          </p:nvPr>
        </p:nvSpPr>
        <p:spPr/>
        <p:txBody>
          <a:bodyPr/>
          <a:lstStyle/>
          <a:p>
            <a:pPr marL="0" indent="0">
              <a:buNone/>
            </a:pPr>
            <a:r>
              <a:rPr lang="en-US" b="1" dirty="0"/>
              <a:t>Target Variable</a:t>
            </a:r>
          </a:p>
          <a:p>
            <a:r>
              <a:rPr lang="en-US" dirty="0"/>
              <a:t>Potability (0 = Not Potable, </a:t>
            </a:r>
          </a:p>
          <a:p>
            <a:pPr marL="0" indent="0">
              <a:buNone/>
            </a:pPr>
            <a:r>
              <a:rPr lang="en-US" dirty="0"/>
              <a:t>   1 = Potable)</a:t>
            </a:r>
          </a:p>
          <a:p>
            <a:endParaRPr lang="en-IN" dirty="0"/>
          </a:p>
        </p:txBody>
      </p:sp>
    </p:spTree>
    <p:extLst>
      <p:ext uri="{BB962C8B-B14F-4D97-AF65-F5344CB8AC3E}">
        <p14:creationId xmlns:p14="http://schemas.microsoft.com/office/powerpoint/2010/main" val="4130719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E2CA-04A9-195A-A628-CF2B79560D22}"/>
              </a:ext>
            </a:extLst>
          </p:cNvPr>
          <p:cNvSpPr>
            <a:spLocks noGrp="1"/>
          </p:cNvSpPr>
          <p:nvPr>
            <p:ph type="title"/>
          </p:nvPr>
        </p:nvSpPr>
        <p:spPr/>
        <p:txBody>
          <a:bodyPr/>
          <a:lstStyle/>
          <a:p>
            <a:r>
              <a:rPr lang="en-IN" dirty="0"/>
              <a:t>DATA PREPROCESSING &amp; MISSING VALUE HANDLING</a:t>
            </a:r>
          </a:p>
        </p:txBody>
      </p:sp>
      <p:sp>
        <p:nvSpPr>
          <p:cNvPr id="3" name="Content Placeholder 2">
            <a:extLst>
              <a:ext uri="{FF2B5EF4-FFF2-40B4-BE49-F238E27FC236}">
                <a16:creationId xmlns:a16="http://schemas.microsoft.com/office/drawing/2014/main" id="{09CE4BA6-E7DF-0C14-4591-572E65B9B40E}"/>
              </a:ext>
            </a:extLst>
          </p:cNvPr>
          <p:cNvSpPr>
            <a:spLocks noGrp="1"/>
          </p:cNvSpPr>
          <p:nvPr>
            <p:ph idx="1"/>
          </p:nvPr>
        </p:nvSpPr>
        <p:spPr/>
        <p:txBody>
          <a:bodyPr>
            <a:normAutofit/>
          </a:bodyPr>
          <a:lstStyle/>
          <a:p>
            <a:r>
              <a:rPr lang="en-IN" dirty="0"/>
              <a:t>Examined dataset dimensions and feature types</a:t>
            </a:r>
          </a:p>
          <a:p>
            <a:r>
              <a:rPr lang="en-IN" dirty="0"/>
              <a:t> Analysed descriptive statistics</a:t>
            </a:r>
          </a:p>
          <a:p>
            <a:r>
              <a:rPr lang="en-IN" dirty="0"/>
              <a:t>Identified missing values across features</a:t>
            </a:r>
          </a:p>
          <a:p>
            <a:r>
              <a:rPr lang="en-IN" b="1" dirty="0"/>
              <a:t>⚙ Data Cleaning Strategy</a:t>
            </a:r>
          </a:p>
          <a:p>
            <a:r>
              <a:rPr lang="en-IN" dirty="0"/>
              <a:t>Addressed missing values in:-</a:t>
            </a:r>
            <a:r>
              <a:rPr lang="en-IN" b="1" dirty="0"/>
              <a:t>pH,  </a:t>
            </a:r>
            <a:r>
              <a:rPr lang="en-IN" b="1" dirty="0" err="1"/>
              <a:t>Sulfate</a:t>
            </a:r>
            <a:r>
              <a:rPr lang="en-IN" dirty="0"/>
              <a:t>,  </a:t>
            </a:r>
            <a:r>
              <a:rPr lang="en-IN" b="1" dirty="0"/>
              <a:t>Trihalomethanes</a:t>
            </a:r>
            <a:endParaRPr lang="en-IN" dirty="0"/>
          </a:p>
          <a:p>
            <a:r>
              <a:rPr lang="en-IN" dirty="0"/>
              <a:t>Applied statistical imputation methods</a:t>
            </a:r>
          </a:p>
          <a:p>
            <a:r>
              <a:rPr lang="en-IN" dirty="0"/>
              <a:t>Ensured high-quality, complete dataset for ML pipeline</a:t>
            </a:r>
          </a:p>
          <a:p>
            <a:endParaRPr lang="en-IN" dirty="0"/>
          </a:p>
        </p:txBody>
      </p:sp>
    </p:spTree>
    <p:extLst>
      <p:ext uri="{BB962C8B-B14F-4D97-AF65-F5344CB8AC3E}">
        <p14:creationId xmlns:p14="http://schemas.microsoft.com/office/powerpoint/2010/main" val="467229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90A9A6-8809-32CA-B5C4-588E27B70A64}"/>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Distribution plots for all features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Checked skewness and spread</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Identified feature patterns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Visualized relationships with target variable</a:t>
            </a:r>
          </a:p>
          <a:p>
            <a:endParaRPr lang="en-IN" dirty="0"/>
          </a:p>
        </p:txBody>
      </p:sp>
      <p:sp>
        <p:nvSpPr>
          <p:cNvPr id="2" name="Title 1">
            <a:extLst>
              <a:ext uri="{FF2B5EF4-FFF2-40B4-BE49-F238E27FC236}">
                <a16:creationId xmlns:a16="http://schemas.microsoft.com/office/drawing/2014/main" id="{8ACABC45-5EA7-D66A-FBB7-5AB51C767302}"/>
              </a:ext>
            </a:extLst>
          </p:cNvPr>
          <p:cNvSpPr>
            <a:spLocks noGrp="1"/>
          </p:cNvSpPr>
          <p:nvPr>
            <p:ph type="title"/>
          </p:nvPr>
        </p:nvSpPr>
        <p:spPr/>
        <p:txBody>
          <a:bodyPr/>
          <a:lstStyle/>
          <a:p>
            <a:r>
              <a:rPr lang="en-IN" dirty="0"/>
              <a:t>EXPLORATORY DATA ANALYSIS (EDA)</a:t>
            </a:r>
          </a:p>
        </p:txBody>
      </p:sp>
    </p:spTree>
    <p:extLst>
      <p:ext uri="{BB962C8B-B14F-4D97-AF65-F5344CB8AC3E}">
        <p14:creationId xmlns:p14="http://schemas.microsoft.com/office/powerpoint/2010/main" val="3144622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3E3FA-94C6-0FC2-33BE-AD0071A25D50}"/>
              </a:ext>
            </a:extLst>
          </p:cNvPr>
          <p:cNvSpPr>
            <a:spLocks noGrp="1"/>
          </p:cNvSpPr>
          <p:nvPr>
            <p:ph type="title"/>
          </p:nvPr>
        </p:nvSpPr>
        <p:spPr/>
        <p:txBody>
          <a:bodyPr/>
          <a:lstStyle/>
          <a:p>
            <a:r>
              <a:rPr lang="en-IN" dirty="0"/>
              <a:t>EDA VISUZLIZATION</a:t>
            </a:r>
          </a:p>
        </p:txBody>
      </p:sp>
      <p:pic>
        <p:nvPicPr>
          <p:cNvPr id="6" name="Content Placeholder 5">
            <a:extLst>
              <a:ext uri="{FF2B5EF4-FFF2-40B4-BE49-F238E27FC236}">
                <a16:creationId xmlns:a16="http://schemas.microsoft.com/office/drawing/2014/main" id="{A8BD0686-5316-D5BC-683E-8EC982BBFCA8}"/>
              </a:ext>
            </a:extLst>
          </p:cNvPr>
          <p:cNvPicPr>
            <a:picLocks noGrp="1" noChangeAspect="1"/>
          </p:cNvPicPr>
          <p:nvPr>
            <p:ph idx="1"/>
          </p:nvPr>
        </p:nvPicPr>
        <p:blipFill>
          <a:blip r:embed="rId3"/>
          <a:stretch>
            <a:fillRect/>
          </a:stretch>
        </p:blipFill>
        <p:spPr>
          <a:xfrm>
            <a:off x="679450" y="1856040"/>
            <a:ext cx="5106988" cy="4006344"/>
          </a:xfrm>
          <a:prstGeom prst="rect">
            <a:avLst/>
          </a:prstGeom>
        </p:spPr>
      </p:pic>
    </p:spTree>
    <p:extLst>
      <p:ext uri="{BB962C8B-B14F-4D97-AF65-F5344CB8AC3E}">
        <p14:creationId xmlns:p14="http://schemas.microsoft.com/office/powerpoint/2010/main" val="683626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5093-23D6-DFC2-B647-C96D6C494388}"/>
              </a:ext>
            </a:extLst>
          </p:cNvPr>
          <p:cNvSpPr>
            <a:spLocks noGrp="1"/>
          </p:cNvSpPr>
          <p:nvPr>
            <p:ph type="title"/>
          </p:nvPr>
        </p:nvSpPr>
        <p:spPr/>
        <p:txBody>
          <a:bodyPr/>
          <a:lstStyle/>
          <a:p>
            <a:r>
              <a:rPr lang="en-IN" dirty="0"/>
              <a:t>FEATURE DISTRIBUTIONS</a:t>
            </a:r>
          </a:p>
        </p:txBody>
      </p:sp>
      <p:pic>
        <p:nvPicPr>
          <p:cNvPr id="8" name="Content Placeholder 7">
            <a:extLst>
              <a:ext uri="{FF2B5EF4-FFF2-40B4-BE49-F238E27FC236}">
                <a16:creationId xmlns:a16="http://schemas.microsoft.com/office/drawing/2014/main" id="{C611232D-3054-9326-69CC-F27E8C5CB507}"/>
              </a:ext>
            </a:extLst>
          </p:cNvPr>
          <p:cNvPicPr>
            <a:picLocks noGrp="1" noChangeAspect="1"/>
          </p:cNvPicPr>
          <p:nvPr>
            <p:ph idx="1"/>
          </p:nvPr>
        </p:nvPicPr>
        <p:blipFill>
          <a:blip r:embed="rId3"/>
          <a:stretch>
            <a:fillRect/>
          </a:stretch>
        </p:blipFill>
        <p:spPr>
          <a:xfrm>
            <a:off x="3686930" y="1674813"/>
            <a:ext cx="4818140" cy="4398962"/>
          </a:xfrm>
          <a:prstGeom prst="rect">
            <a:avLst/>
          </a:prstGeom>
        </p:spPr>
      </p:pic>
    </p:spTree>
    <p:extLst>
      <p:ext uri="{BB962C8B-B14F-4D97-AF65-F5344CB8AC3E}">
        <p14:creationId xmlns:p14="http://schemas.microsoft.com/office/powerpoint/2010/main" val="3013680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1FCFE-7068-FAB4-9165-A8708FBEA460}"/>
              </a:ext>
            </a:extLst>
          </p:cNvPr>
          <p:cNvSpPr>
            <a:spLocks noGrp="1"/>
          </p:cNvSpPr>
          <p:nvPr>
            <p:ph type="title"/>
          </p:nvPr>
        </p:nvSpPr>
        <p:spPr/>
        <p:txBody>
          <a:bodyPr/>
          <a:lstStyle/>
          <a:p>
            <a:r>
              <a:rPr lang="en-IN" dirty="0"/>
              <a:t> OUTLIERS </a:t>
            </a:r>
          </a:p>
        </p:txBody>
      </p:sp>
      <p:pic>
        <p:nvPicPr>
          <p:cNvPr id="9" name="Content Placeholder 8">
            <a:extLst>
              <a:ext uri="{FF2B5EF4-FFF2-40B4-BE49-F238E27FC236}">
                <a16:creationId xmlns:a16="http://schemas.microsoft.com/office/drawing/2014/main" id="{C1FAFFF8-E2CB-095D-20C0-ABACE463DD56}"/>
              </a:ext>
            </a:extLst>
          </p:cNvPr>
          <p:cNvPicPr>
            <a:picLocks noGrp="1" noChangeAspect="1"/>
          </p:cNvPicPr>
          <p:nvPr>
            <p:ph idx="1"/>
          </p:nvPr>
        </p:nvPicPr>
        <p:blipFill>
          <a:blip r:embed="rId2"/>
          <a:stretch>
            <a:fillRect/>
          </a:stretch>
        </p:blipFill>
        <p:spPr>
          <a:xfrm>
            <a:off x="3451730" y="1674813"/>
            <a:ext cx="5288539" cy="4398962"/>
          </a:xfrm>
          <a:prstGeom prst="rect">
            <a:avLst/>
          </a:prstGeom>
        </p:spPr>
      </p:pic>
    </p:spTree>
    <p:extLst>
      <p:ext uri="{BB962C8B-B14F-4D97-AF65-F5344CB8AC3E}">
        <p14:creationId xmlns:p14="http://schemas.microsoft.com/office/powerpoint/2010/main" val="1062619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D5D9B-AF20-5665-4222-7F131F1FB01A}"/>
              </a:ext>
            </a:extLst>
          </p:cNvPr>
          <p:cNvSpPr>
            <a:spLocks noGrp="1"/>
          </p:cNvSpPr>
          <p:nvPr>
            <p:ph type="title"/>
          </p:nvPr>
        </p:nvSpPr>
        <p:spPr/>
        <p:txBody>
          <a:bodyPr/>
          <a:lstStyle/>
          <a:p>
            <a:r>
              <a:rPr lang="en-IN" dirty="0"/>
              <a:t>CORRELATION ANALYSIS</a:t>
            </a:r>
          </a:p>
        </p:txBody>
      </p:sp>
      <p:pic>
        <p:nvPicPr>
          <p:cNvPr id="5" name="Content Placeholder 4">
            <a:extLst>
              <a:ext uri="{FF2B5EF4-FFF2-40B4-BE49-F238E27FC236}">
                <a16:creationId xmlns:a16="http://schemas.microsoft.com/office/drawing/2014/main" id="{C99819AA-040F-46E1-2E65-9455B43DF6EB}"/>
              </a:ext>
            </a:extLst>
          </p:cNvPr>
          <p:cNvPicPr>
            <a:picLocks noGrp="1" noChangeAspect="1"/>
          </p:cNvPicPr>
          <p:nvPr>
            <p:ph idx="1"/>
          </p:nvPr>
        </p:nvPicPr>
        <p:blipFill>
          <a:blip r:embed="rId2"/>
          <a:stretch>
            <a:fillRect/>
          </a:stretch>
        </p:blipFill>
        <p:spPr>
          <a:xfrm>
            <a:off x="3663368" y="1674813"/>
            <a:ext cx="4865263" cy="4398962"/>
          </a:xfrm>
          <a:prstGeom prst="rect">
            <a:avLst/>
          </a:prstGeom>
        </p:spPr>
      </p:pic>
    </p:spTree>
    <p:extLst>
      <p:ext uri="{BB962C8B-B14F-4D97-AF65-F5344CB8AC3E}">
        <p14:creationId xmlns:p14="http://schemas.microsoft.com/office/powerpoint/2010/main" val="1283995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BF16-4FD4-EA28-9C99-4FAC37C4FB50}"/>
              </a:ext>
            </a:extLst>
          </p:cNvPr>
          <p:cNvSpPr>
            <a:spLocks noGrp="1"/>
          </p:cNvSpPr>
          <p:nvPr>
            <p:ph type="title"/>
          </p:nvPr>
        </p:nvSpPr>
        <p:spPr/>
        <p:txBody>
          <a:bodyPr/>
          <a:lstStyle/>
          <a:p>
            <a:r>
              <a:rPr lang="en-IN" dirty="0"/>
              <a:t>FEATURE IMPORTANCE</a:t>
            </a:r>
          </a:p>
        </p:txBody>
      </p:sp>
      <p:pic>
        <p:nvPicPr>
          <p:cNvPr id="5" name="Content Placeholder 4">
            <a:extLst>
              <a:ext uri="{FF2B5EF4-FFF2-40B4-BE49-F238E27FC236}">
                <a16:creationId xmlns:a16="http://schemas.microsoft.com/office/drawing/2014/main" id="{BEE80217-485F-DD08-23EE-466BBAF58884}"/>
              </a:ext>
            </a:extLst>
          </p:cNvPr>
          <p:cNvPicPr>
            <a:picLocks noGrp="1" noChangeAspect="1"/>
          </p:cNvPicPr>
          <p:nvPr>
            <p:ph idx="1"/>
          </p:nvPr>
        </p:nvPicPr>
        <p:blipFill>
          <a:blip r:embed="rId2"/>
          <a:stretch>
            <a:fillRect/>
          </a:stretch>
        </p:blipFill>
        <p:spPr>
          <a:xfrm>
            <a:off x="2895600" y="1802606"/>
            <a:ext cx="6400800" cy="4143375"/>
          </a:xfrm>
          <a:prstGeom prst="rect">
            <a:avLst/>
          </a:prstGeom>
        </p:spPr>
      </p:pic>
    </p:spTree>
    <p:extLst>
      <p:ext uri="{BB962C8B-B14F-4D97-AF65-F5344CB8AC3E}">
        <p14:creationId xmlns:p14="http://schemas.microsoft.com/office/powerpoint/2010/main" val="2951718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0D608-2B69-06B0-50DB-D5B9F9180AB6}"/>
              </a:ext>
            </a:extLst>
          </p:cNvPr>
          <p:cNvSpPr>
            <a:spLocks noGrp="1"/>
          </p:cNvSpPr>
          <p:nvPr>
            <p:ph type="title"/>
          </p:nvPr>
        </p:nvSpPr>
        <p:spPr/>
        <p:txBody>
          <a:bodyPr/>
          <a:lstStyle/>
          <a:p>
            <a:r>
              <a:rPr lang="en-IN" dirty="0"/>
              <a:t>HANDLING CLASS IMBALANCE</a:t>
            </a:r>
          </a:p>
        </p:txBody>
      </p:sp>
      <p:sp>
        <p:nvSpPr>
          <p:cNvPr id="3" name="Content Placeholder 2">
            <a:extLst>
              <a:ext uri="{FF2B5EF4-FFF2-40B4-BE49-F238E27FC236}">
                <a16:creationId xmlns:a16="http://schemas.microsoft.com/office/drawing/2014/main" id="{981E5290-5511-0F0E-6EE4-529D252BCA11}"/>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Observed imbalance in Potability classes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Applied </a:t>
            </a:r>
            <a:r>
              <a:rPr lang="en-US" altLang="en-US" b="1" dirty="0">
                <a:latin typeface="Arial" panose="020B0604020202020204" pitchFamily="34" charset="0"/>
              </a:rPr>
              <a:t>SMOTE (Synthetic Minority Oversampling Technique)</a:t>
            </a: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Balanced class distribution</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Improved recall and F1-score</a:t>
            </a:r>
          </a:p>
          <a:p>
            <a:endParaRPr lang="en-IN" dirty="0"/>
          </a:p>
        </p:txBody>
      </p:sp>
    </p:spTree>
    <p:extLst>
      <p:ext uri="{BB962C8B-B14F-4D97-AF65-F5344CB8AC3E}">
        <p14:creationId xmlns:p14="http://schemas.microsoft.com/office/powerpoint/2010/main" val="3514172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2300C-1994-D932-F141-DD691F57C6E3}"/>
              </a:ext>
            </a:extLst>
          </p:cNvPr>
          <p:cNvSpPr>
            <a:spLocks noGrp="1"/>
          </p:cNvSpPr>
          <p:nvPr>
            <p:ph type="title"/>
          </p:nvPr>
        </p:nvSpPr>
        <p:spPr/>
        <p:txBody>
          <a:bodyPr/>
          <a:lstStyle/>
          <a:p>
            <a:r>
              <a:rPr lang="en-IN" dirty="0"/>
              <a:t>FEATURE ENGINEERING</a:t>
            </a:r>
          </a:p>
        </p:txBody>
      </p:sp>
      <p:sp>
        <p:nvSpPr>
          <p:cNvPr id="3" name="Content Placeholder 2">
            <a:extLst>
              <a:ext uri="{FF2B5EF4-FFF2-40B4-BE49-F238E27FC236}">
                <a16:creationId xmlns:a16="http://schemas.microsoft.com/office/drawing/2014/main" id="{23C00578-2B83-50C4-877D-280853C8D405}"/>
              </a:ext>
            </a:extLst>
          </p:cNvPr>
          <p:cNvSpPr>
            <a:spLocks noGrp="1"/>
          </p:cNvSpPr>
          <p:nvPr>
            <p:ph idx="1"/>
          </p:nvPr>
        </p:nvSpPr>
        <p:spPr/>
        <p:txBody>
          <a:bodyPr/>
          <a:lstStyle/>
          <a:p>
            <a:r>
              <a:rPr lang="en-IN" dirty="0"/>
              <a:t>Log transformations: </a:t>
            </a:r>
            <a:r>
              <a:rPr lang="en-IN" dirty="0" err="1"/>
              <a:t>Solids_log</a:t>
            </a:r>
            <a:r>
              <a:rPr lang="en-IN" dirty="0"/>
              <a:t>, </a:t>
            </a:r>
            <a:r>
              <a:rPr lang="en-IN" dirty="0" err="1"/>
              <a:t>Trihalomethanes_log</a:t>
            </a:r>
            <a:endParaRPr lang="en-IN" dirty="0"/>
          </a:p>
          <a:p>
            <a:r>
              <a:rPr lang="en-IN" dirty="0"/>
              <a:t>Ratio feature: </a:t>
            </a:r>
            <a:r>
              <a:rPr lang="en-IN" dirty="0" err="1"/>
              <a:t>Cond_Hardness_ratio</a:t>
            </a:r>
            <a:endParaRPr lang="en-IN" dirty="0"/>
          </a:p>
          <a:p>
            <a:r>
              <a:rPr lang="en-IN" dirty="0"/>
              <a:t>Normalization: </a:t>
            </a:r>
            <a:r>
              <a:rPr lang="en-IN" dirty="0" err="1"/>
              <a:t>Turbidity_norm</a:t>
            </a:r>
            <a:endParaRPr lang="en-IN" dirty="0"/>
          </a:p>
          <a:p>
            <a:r>
              <a:rPr lang="en-IN" dirty="0"/>
              <a:t>pH categorization + One-hot encoding</a:t>
            </a:r>
          </a:p>
          <a:p>
            <a:pPr marL="0" indent="0">
              <a:buNone/>
            </a:pPr>
            <a:r>
              <a:rPr lang="en-IN" dirty="0"/>
              <a:t>👉 Reduces skewness &amp; improves pattern learning</a:t>
            </a:r>
          </a:p>
          <a:p>
            <a:endParaRPr lang="en-IN" dirty="0"/>
          </a:p>
        </p:txBody>
      </p:sp>
    </p:spTree>
    <p:extLst>
      <p:ext uri="{BB962C8B-B14F-4D97-AF65-F5344CB8AC3E}">
        <p14:creationId xmlns:p14="http://schemas.microsoft.com/office/powerpoint/2010/main" val="1462378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1BCEC-BBFE-2FB7-34E0-8534DEE56598}"/>
              </a:ext>
            </a:extLst>
          </p:cNvPr>
          <p:cNvSpPr>
            <a:spLocks noGrp="1"/>
          </p:cNvSpPr>
          <p:nvPr>
            <p:ph type="title"/>
          </p:nvPr>
        </p:nvSpPr>
        <p:spPr/>
        <p:txBody>
          <a:bodyPr/>
          <a:lstStyle/>
          <a:p>
            <a:r>
              <a:rPr lang="en-IN" dirty="0"/>
              <a:t>FEATURE SCALING</a:t>
            </a:r>
          </a:p>
        </p:txBody>
      </p:sp>
      <p:sp>
        <p:nvSpPr>
          <p:cNvPr id="3" name="Content Placeholder 2">
            <a:extLst>
              <a:ext uri="{FF2B5EF4-FFF2-40B4-BE49-F238E27FC236}">
                <a16:creationId xmlns:a16="http://schemas.microsoft.com/office/drawing/2014/main" id="{AEAAD8B9-2669-221A-8CD3-5AF7096A46F0}"/>
              </a:ext>
            </a:extLst>
          </p:cNvPr>
          <p:cNvSpPr>
            <a:spLocks noGrp="1"/>
          </p:cNvSpPr>
          <p:nvPr>
            <p:ph idx="1"/>
          </p:nvPr>
        </p:nvSpPr>
        <p:spPr/>
        <p:txBody>
          <a:bodyPr/>
          <a:lstStyle/>
          <a:p>
            <a:r>
              <a:rPr lang="en-IN" dirty="0"/>
              <a:t>Applied standardization/normalisation</a:t>
            </a:r>
          </a:p>
          <a:p>
            <a:r>
              <a:rPr lang="en-IN" dirty="0"/>
              <a:t>Important for SVM &amp; KNN</a:t>
            </a:r>
          </a:p>
          <a:p>
            <a:r>
              <a:rPr lang="en-IN" dirty="0"/>
              <a:t>Prevents large-value dominance (e.g., Solids)</a:t>
            </a:r>
          </a:p>
          <a:p>
            <a:pPr marL="0" indent="0">
              <a:buNone/>
            </a:pPr>
            <a:r>
              <a:rPr lang="en-IN" dirty="0"/>
              <a:t>👉 Improves accuracy &amp; model stability</a:t>
            </a:r>
          </a:p>
          <a:p>
            <a:endParaRPr lang="en-IN" dirty="0"/>
          </a:p>
        </p:txBody>
      </p:sp>
    </p:spTree>
    <p:extLst>
      <p:ext uri="{BB962C8B-B14F-4D97-AF65-F5344CB8AC3E}">
        <p14:creationId xmlns:p14="http://schemas.microsoft.com/office/powerpoint/2010/main" val="1096659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C6D27-C89A-E731-5EE2-6326C914659D}"/>
              </a:ext>
            </a:extLst>
          </p:cNvPr>
          <p:cNvSpPr>
            <a:spLocks noGrp="1"/>
          </p:cNvSpPr>
          <p:nvPr>
            <p:ph type="title"/>
          </p:nvPr>
        </p:nvSpPr>
        <p:spPr/>
        <p:txBody>
          <a:bodyPr/>
          <a:lstStyle/>
          <a:p>
            <a:r>
              <a:rPr lang="en-IN" dirty="0"/>
              <a:t>MACHINE LEARNING MODELS</a:t>
            </a:r>
          </a:p>
        </p:txBody>
      </p:sp>
      <p:sp>
        <p:nvSpPr>
          <p:cNvPr id="3" name="Content Placeholder 2">
            <a:extLst>
              <a:ext uri="{FF2B5EF4-FFF2-40B4-BE49-F238E27FC236}">
                <a16:creationId xmlns:a16="http://schemas.microsoft.com/office/drawing/2014/main" id="{6ABD8971-149A-3009-7FB0-EA49FEBE8A59}"/>
              </a:ext>
            </a:extLst>
          </p:cNvPr>
          <p:cNvSpPr>
            <a:spLocks noGrp="1"/>
          </p:cNvSpPr>
          <p:nvPr>
            <p:ph sz="half" idx="1"/>
          </p:nvPr>
        </p:nvSpPr>
        <p:spPr/>
        <p:txBody>
          <a:bodyPr/>
          <a:lstStyle/>
          <a:p>
            <a:pPr marL="0" indent="0">
              <a:buNone/>
            </a:pPr>
            <a:r>
              <a:rPr lang="en-US" dirty="0"/>
              <a:t>Models trained and saved as </a:t>
            </a:r>
            <a:r>
              <a:rPr lang="en-US" b="1" dirty="0"/>
              <a:t>.</a:t>
            </a:r>
            <a:r>
              <a:rPr lang="en-US" b="1" dirty="0" err="1"/>
              <a:t>pkl</a:t>
            </a:r>
            <a:r>
              <a:rPr lang="en-US" b="1" dirty="0"/>
              <a:t> files</a:t>
            </a:r>
            <a:r>
              <a:rPr lang="en-US" dirty="0"/>
              <a:t>:</a:t>
            </a:r>
          </a:p>
          <a:p>
            <a:r>
              <a:rPr lang="en-US" dirty="0"/>
              <a:t>Random Forest (Pipeline)</a:t>
            </a:r>
          </a:p>
          <a:p>
            <a:r>
              <a:rPr lang="en-US" dirty="0" err="1"/>
              <a:t>XGBoost</a:t>
            </a:r>
            <a:endParaRPr lang="en-US" dirty="0"/>
          </a:p>
          <a:p>
            <a:r>
              <a:rPr lang="en-US" dirty="0"/>
              <a:t>SVM</a:t>
            </a:r>
          </a:p>
          <a:p>
            <a:r>
              <a:rPr lang="en-US" dirty="0"/>
              <a:t>KNN</a:t>
            </a:r>
          </a:p>
          <a:p>
            <a:r>
              <a:rPr lang="en-US" dirty="0"/>
              <a:t>Decision Tree</a:t>
            </a:r>
          </a:p>
          <a:p>
            <a:endParaRPr lang="en-IN" dirty="0"/>
          </a:p>
        </p:txBody>
      </p:sp>
      <p:sp>
        <p:nvSpPr>
          <p:cNvPr id="6" name="Content Placeholder 5">
            <a:extLst>
              <a:ext uri="{FF2B5EF4-FFF2-40B4-BE49-F238E27FC236}">
                <a16:creationId xmlns:a16="http://schemas.microsoft.com/office/drawing/2014/main" id="{8914DA46-31E4-6F9A-38AC-830163070012}"/>
              </a:ext>
            </a:extLst>
          </p:cNvPr>
          <p:cNvSpPr>
            <a:spLocks noGrp="1"/>
          </p:cNvSpPr>
          <p:nvPr>
            <p:ph sz="half" idx="2"/>
          </p:nvPr>
        </p:nvSpPr>
        <p:spPr/>
        <p:txBody>
          <a:bodyPr/>
          <a:lstStyle/>
          <a:p>
            <a:pPr marL="0" indent="0">
              <a:buNone/>
            </a:pPr>
            <a:r>
              <a:rPr lang="en-US" b="1" dirty="0"/>
              <a:t>Evaluation Metrics</a:t>
            </a:r>
          </a:p>
          <a:p>
            <a:r>
              <a:rPr lang="en-US" dirty="0"/>
              <a:t>Accuracy</a:t>
            </a:r>
          </a:p>
          <a:p>
            <a:r>
              <a:rPr lang="en-US" dirty="0"/>
              <a:t>Precision</a:t>
            </a:r>
          </a:p>
          <a:p>
            <a:r>
              <a:rPr lang="en-US" dirty="0"/>
              <a:t>Recall</a:t>
            </a:r>
          </a:p>
          <a:p>
            <a:r>
              <a:rPr lang="en-US" dirty="0"/>
              <a:t>F1 Score</a:t>
            </a:r>
          </a:p>
          <a:p>
            <a:endParaRPr lang="en-IN" dirty="0"/>
          </a:p>
        </p:txBody>
      </p:sp>
    </p:spTree>
    <p:extLst>
      <p:ext uri="{BB962C8B-B14F-4D97-AF65-F5344CB8AC3E}">
        <p14:creationId xmlns:p14="http://schemas.microsoft.com/office/powerpoint/2010/main" val="3204881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13FDC-1E30-DABC-A15F-BA5ECE5B00B4}"/>
              </a:ext>
            </a:extLst>
          </p:cNvPr>
          <p:cNvSpPr>
            <a:spLocks noGrp="1"/>
          </p:cNvSpPr>
          <p:nvPr>
            <p:ph type="title"/>
          </p:nvPr>
        </p:nvSpPr>
        <p:spPr/>
        <p:txBody>
          <a:bodyPr/>
          <a:lstStyle/>
          <a:p>
            <a:r>
              <a:rPr lang="en-IN" dirty="0"/>
              <a:t>MODEL PERFORMANCE COMPARISON </a:t>
            </a:r>
          </a:p>
        </p:txBody>
      </p:sp>
      <p:pic>
        <p:nvPicPr>
          <p:cNvPr id="8" name="Content Placeholder 7">
            <a:extLst>
              <a:ext uri="{FF2B5EF4-FFF2-40B4-BE49-F238E27FC236}">
                <a16:creationId xmlns:a16="http://schemas.microsoft.com/office/drawing/2014/main" id="{8BE3E764-91F4-196B-EB16-EFDEC8DE808B}"/>
              </a:ext>
            </a:extLst>
          </p:cNvPr>
          <p:cNvPicPr>
            <a:picLocks noGrp="1" noChangeAspect="1"/>
          </p:cNvPicPr>
          <p:nvPr>
            <p:ph idx="1"/>
          </p:nvPr>
        </p:nvPicPr>
        <p:blipFill>
          <a:blip r:embed="rId2"/>
          <a:stretch>
            <a:fillRect/>
          </a:stretch>
        </p:blipFill>
        <p:spPr>
          <a:xfrm>
            <a:off x="1784838" y="1674813"/>
            <a:ext cx="8343899" cy="4398962"/>
          </a:xfrm>
          <a:prstGeom prst="rect">
            <a:avLst/>
          </a:prstGeom>
        </p:spPr>
      </p:pic>
    </p:spTree>
    <p:extLst>
      <p:ext uri="{BB962C8B-B14F-4D97-AF65-F5344CB8AC3E}">
        <p14:creationId xmlns:p14="http://schemas.microsoft.com/office/powerpoint/2010/main" val="1881514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B7E78F-9510-9F1B-7AB3-3D68197CE0D1}"/>
              </a:ext>
            </a:extLst>
          </p:cNvPr>
          <p:cNvSpPr>
            <a:spLocks noGrp="1"/>
          </p:cNvSpPr>
          <p:nvPr>
            <p:ph type="title"/>
          </p:nvPr>
        </p:nvSpPr>
        <p:spPr/>
        <p:txBody>
          <a:bodyPr/>
          <a:lstStyle/>
          <a:p>
            <a:r>
              <a:rPr lang="en-IN" dirty="0"/>
              <a:t>BEST PERMORMED PERFORMANCE</a:t>
            </a:r>
          </a:p>
        </p:txBody>
      </p:sp>
      <p:sp>
        <p:nvSpPr>
          <p:cNvPr id="6" name="Content Placeholder 5">
            <a:extLst>
              <a:ext uri="{FF2B5EF4-FFF2-40B4-BE49-F238E27FC236}">
                <a16:creationId xmlns:a16="http://schemas.microsoft.com/office/drawing/2014/main" id="{60AECA56-89DA-A310-4A9A-0993A8D1B745}"/>
              </a:ext>
            </a:extLst>
          </p:cNvPr>
          <p:cNvSpPr>
            <a:spLocks noGrp="1"/>
          </p:cNvSpPr>
          <p:nvPr>
            <p:ph idx="1"/>
          </p:nvPr>
        </p:nvSpPr>
        <p:spPr/>
        <p:txBody>
          <a:bodyPr/>
          <a:lstStyle/>
          <a:p>
            <a:r>
              <a:rPr lang="en-US" b="1" dirty="0"/>
              <a:t>Best Performing Model:</a:t>
            </a:r>
            <a:r>
              <a:rPr lang="en-US" dirty="0"/>
              <a:t> </a:t>
            </a:r>
            <a:r>
              <a:rPr lang="en-US" dirty="0" err="1"/>
              <a:t>RandomForest</a:t>
            </a:r>
            <a:endParaRPr lang="en-US" dirty="0"/>
          </a:p>
          <a:p>
            <a:r>
              <a:rPr lang="en-US" dirty="0"/>
              <a:t>ROC-AUC: 0.65</a:t>
            </a:r>
          </a:p>
          <a:p>
            <a:r>
              <a:rPr lang="en-US" dirty="0"/>
              <a:t>Accuracy: 0.65</a:t>
            </a:r>
          </a:p>
          <a:p>
            <a:r>
              <a:rPr lang="en-US" dirty="0"/>
              <a:t>F1 Score: 0.51</a:t>
            </a:r>
          </a:p>
          <a:p>
            <a:endParaRPr lang="en-IN" dirty="0"/>
          </a:p>
        </p:txBody>
      </p:sp>
    </p:spTree>
    <p:extLst>
      <p:ext uri="{BB962C8B-B14F-4D97-AF65-F5344CB8AC3E}">
        <p14:creationId xmlns:p14="http://schemas.microsoft.com/office/powerpoint/2010/main" val="3774513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5575F-5021-B730-A285-51D3F374ED6A}"/>
              </a:ext>
            </a:extLst>
          </p:cNvPr>
          <p:cNvSpPr>
            <a:spLocks noGrp="1"/>
          </p:cNvSpPr>
          <p:nvPr>
            <p:ph type="title"/>
          </p:nvPr>
        </p:nvSpPr>
        <p:spPr/>
        <p:txBody>
          <a:bodyPr/>
          <a:lstStyle/>
          <a:p>
            <a:r>
              <a:rPr lang="en-IN" dirty="0"/>
              <a:t>CONFUSION MATRIX</a:t>
            </a:r>
          </a:p>
        </p:txBody>
      </p:sp>
      <p:pic>
        <p:nvPicPr>
          <p:cNvPr id="5" name="Content Placeholder 4">
            <a:extLst>
              <a:ext uri="{FF2B5EF4-FFF2-40B4-BE49-F238E27FC236}">
                <a16:creationId xmlns:a16="http://schemas.microsoft.com/office/drawing/2014/main" id="{003F2D69-644B-42BD-F508-B76A95843C48}"/>
              </a:ext>
            </a:extLst>
          </p:cNvPr>
          <p:cNvPicPr>
            <a:picLocks noGrp="1" noChangeAspect="1"/>
          </p:cNvPicPr>
          <p:nvPr>
            <p:ph idx="1"/>
          </p:nvPr>
        </p:nvPicPr>
        <p:blipFill>
          <a:blip r:embed="rId2"/>
          <a:stretch>
            <a:fillRect/>
          </a:stretch>
        </p:blipFill>
        <p:spPr>
          <a:xfrm>
            <a:off x="1797226" y="1660525"/>
            <a:ext cx="4819297" cy="4397375"/>
          </a:xfrm>
          <a:prstGeom prst="rect">
            <a:avLst/>
          </a:prstGeom>
        </p:spPr>
      </p:pic>
    </p:spTree>
    <p:extLst>
      <p:ext uri="{BB962C8B-B14F-4D97-AF65-F5344CB8AC3E}">
        <p14:creationId xmlns:p14="http://schemas.microsoft.com/office/powerpoint/2010/main" val="2216108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14CD8-35F1-BF43-9B63-19FEA16E9F17}"/>
              </a:ext>
            </a:extLst>
          </p:cNvPr>
          <p:cNvSpPr>
            <a:spLocks noGrp="1"/>
          </p:cNvSpPr>
          <p:nvPr>
            <p:ph type="title"/>
          </p:nvPr>
        </p:nvSpPr>
        <p:spPr/>
        <p:txBody>
          <a:bodyPr/>
          <a:lstStyle/>
          <a:p>
            <a:r>
              <a:rPr lang="en-IN" dirty="0"/>
              <a:t>ROC CURVES</a:t>
            </a:r>
          </a:p>
        </p:txBody>
      </p:sp>
      <p:pic>
        <p:nvPicPr>
          <p:cNvPr id="5" name="Content Placeholder 4">
            <a:extLst>
              <a:ext uri="{FF2B5EF4-FFF2-40B4-BE49-F238E27FC236}">
                <a16:creationId xmlns:a16="http://schemas.microsoft.com/office/drawing/2014/main" id="{DCDCA38A-F45B-9B33-7046-72A9A517B929}"/>
              </a:ext>
            </a:extLst>
          </p:cNvPr>
          <p:cNvPicPr>
            <a:picLocks noGrp="1" noChangeAspect="1"/>
          </p:cNvPicPr>
          <p:nvPr>
            <p:ph idx="1"/>
          </p:nvPr>
        </p:nvPicPr>
        <p:blipFill>
          <a:blip r:embed="rId2"/>
          <a:stretch>
            <a:fillRect/>
          </a:stretch>
        </p:blipFill>
        <p:spPr>
          <a:xfrm>
            <a:off x="1422945" y="1660525"/>
            <a:ext cx="5567860" cy="4397375"/>
          </a:xfrm>
          <a:prstGeom prst="rect">
            <a:avLst/>
          </a:prstGeom>
        </p:spPr>
      </p:pic>
    </p:spTree>
    <p:extLst>
      <p:ext uri="{BB962C8B-B14F-4D97-AF65-F5344CB8AC3E}">
        <p14:creationId xmlns:p14="http://schemas.microsoft.com/office/powerpoint/2010/main" val="3330829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F669FF-95E2-DCDD-EC49-59BE1F05DAB1}"/>
              </a:ext>
            </a:extLst>
          </p:cNvPr>
          <p:cNvSpPr>
            <a:spLocks noGrp="1"/>
          </p:cNvSpPr>
          <p:nvPr>
            <p:ph type="title"/>
          </p:nvPr>
        </p:nvSpPr>
        <p:spPr/>
        <p:txBody>
          <a:bodyPr/>
          <a:lstStyle/>
          <a:p>
            <a:r>
              <a:rPr lang="en-IN" dirty="0"/>
              <a:t>FEATURE IMPORTANCE BASED ON TREE MODELS</a:t>
            </a:r>
          </a:p>
        </p:txBody>
      </p:sp>
      <p:pic>
        <p:nvPicPr>
          <p:cNvPr id="7" name="Content Placeholder 6">
            <a:extLst>
              <a:ext uri="{FF2B5EF4-FFF2-40B4-BE49-F238E27FC236}">
                <a16:creationId xmlns:a16="http://schemas.microsoft.com/office/drawing/2014/main" id="{1A039E40-41AD-C62B-9F7E-68A0C3FC7682}"/>
              </a:ext>
            </a:extLst>
          </p:cNvPr>
          <p:cNvPicPr>
            <a:picLocks noGrp="1" noChangeAspect="1"/>
          </p:cNvPicPr>
          <p:nvPr>
            <p:ph idx="1"/>
          </p:nvPr>
        </p:nvPicPr>
        <p:blipFill>
          <a:blip r:embed="rId2"/>
          <a:stretch>
            <a:fillRect/>
          </a:stretch>
        </p:blipFill>
        <p:spPr>
          <a:xfrm>
            <a:off x="1160586" y="1692397"/>
            <a:ext cx="9733084" cy="4398962"/>
          </a:xfrm>
          <a:prstGeom prst="rect">
            <a:avLst/>
          </a:prstGeom>
        </p:spPr>
      </p:pic>
    </p:spTree>
    <p:extLst>
      <p:ext uri="{BB962C8B-B14F-4D97-AF65-F5344CB8AC3E}">
        <p14:creationId xmlns:p14="http://schemas.microsoft.com/office/powerpoint/2010/main" val="2161063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7067D-27B8-04EF-A773-7A21ABF59878}"/>
              </a:ext>
            </a:extLst>
          </p:cNvPr>
          <p:cNvSpPr>
            <a:spLocks noGrp="1"/>
          </p:cNvSpPr>
          <p:nvPr>
            <p:ph type="title"/>
          </p:nvPr>
        </p:nvSpPr>
        <p:spPr/>
        <p:txBody>
          <a:bodyPr/>
          <a:lstStyle/>
          <a:p>
            <a:r>
              <a:rPr lang="en-IN" dirty="0"/>
              <a:t>SYSTEM ARCHITECTURE</a:t>
            </a:r>
          </a:p>
        </p:txBody>
      </p:sp>
      <p:sp>
        <p:nvSpPr>
          <p:cNvPr id="3" name="Content Placeholder 2">
            <a:extLst>
              <a:ext uri="{FF2B5EF4-FFF2-40B4-BE49-F238E27FC236}">
                <a16:creationId xmlns:a16="http://schemas.microsoft.com/office/drawing/2014/main" id="{3210AB77-9050-BE5B-97FF-BB14C346E6DE}"/>
              </a:ext>
            </a:extLst>
          </p:cNvPr>
          <p:cNvSpPr>
            <a:spLocks noGrp="1"/>
          </p:cNvSpPr>
          <p:nvPr>
            <p:ph idx="1"/>
          </p:nvPr>
        </p:nvSpPr>
        <p:spPr>
          <a:xfrm>
            <a:off x="484010" y="1614865"/>
            <a:ext cx="7055274" cy="4398066"/>
          </a:xfrm>
        </p:spPr>
        <p:txBody>
          <a:bodyPr/>
          <a:lstStyle/>
          <a:p>
            <a:pPr marL="0" indent="0" algn="ctr">
              <a:buNone/>
            </a:pPr>
            <a:r>
              <a:rPr lang="en-IN" dirty="0"/>
              <a:t>User</a:t>
            </a:r>
            <a:br>
              <a:rPr lang="en-IN" dirty="0"/>
            </a:br>
            <a:r>
              <a:rPr lang="en-IN" dirty="0"/>
              <a:t>↓</a:t>
            </a:r>
            <a:br>
              <a:rPr lang="en-IN" dirty="0"/>
            </a:br>
            <a:r>
              <a:rPr lang="en-IN" dirty="0" err="1"/>
              <a:t>Streamlit</a:t>
            </a:r>
            <a:r>
              <a:rPr lang="en-IN" dirty="0"/>
              <a:t> Frontend (app.py)</a:t>
            </a:r>
            <a:br>
              <a:rPr lang="en-IN" dirty="0"/>
            </a:br>
            <a:r>
              <a:rPr lang="en-IN" dirty="0"/>
              <a:t>↓</a:t>
            </a:r>
            <a:br>
              <a:rPr lang="en-IN" dirty="0"/>
            </a:br>
            <a:r>
              <a:rPr lang="en-IN" dirty="0" err="1"/>
              <a:t>FastAPI</a:t>
            </a:r>
            <a:r>
              <a:rPr lang="en-IN" dirty="0"/>
              <a:t> Backend (api.py)</a:t>
            </a:r>
            <a:br>
              <a:rPr lang="en-IN" dirty="0"/>
            </a:br>
            <a:r>
              <a:rPr lang="en-IN" dirty="0"/>
              <a:t>↓</a:t>
            </a:r>
            <a:br>
              <a:rPr lang="en-IN" dirty="0"/>
            </a:br>
            <a:r>
              <a:rPr lang="en-IN" dirty="0"/>
              <a:t>ML Models (.</a:t>
            </a:r>
            <a:r>
              <a:rPr lang="en-IN" dirty="0" err="1"/>
              <a:t>pkl</a:t>
            </a:r>
            <a:r>
              <a:rPr lang="en-IN" dirty="0"/>
              <a:t> files from notebook)</a:t>
            </a:r>
          </a:p>
        </p:txBody>
      </p:sp>
    </p:spTree>
    <p:extLst>
      <p:ext uri="{BB962C8B-B14F-4D97-AF65-F5344CB8AC3E}">
        <p14:creationId xmlns:p14="http://schemas.microsoft.com/office/powerpoint/2010/main" val="145894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67C465-27F1-EB93-8069-81F64EE3083D}"/>
              </a:ext>
            </a:extLst>
          </p:cNvPr>
          <p:cNvSpPr>
            <a:spLocks noGrp="1"/>
          </p:cNvSpPr>
          <p:nvPr>
            <p:ph type="title"/>
          </p:nvPr>
        </p:nvSpPr>
        <p:spPr/>
        <p:txBody>
          <a:bodyPr/>
          <a:lstStyle/>
          <a:p>
            <a:r>
              <a:rPr lang="en-IN" dirty="0"/>
              <a:t>BACKEND: FASTAPI ARCHITECTURE</a:t>
            </a:r>
          </a:p>
        </p:txBody>
      </p:sp>
      <p:sp>
        <p:nvSpPr>
          <p:cNvPr id="5" name="Content Placeholder 4">
            <a:extLst>
              <a:ext uri="{FF2B5EF4-FFF2-40B4-BE49-F238E27FC236}">
                <a16:creationId xmlns:a16="http://schemas.microsoft.com/office/drawing/2014/main" id="{78282A8B-E2C8-EB4A-AE22-EF1512A4EA5F}"/>
              </a:ext>
            </a:extLst>
          </p:cNvPr>
          <p:cNvSpPr>
            <a:spLocks noGrp="1"/>
          </p:cNvSpPr>
          <p:nvPr>
            <p:ph idx="1"/>
          </p:nvPr>
        </p:nvSpPr>
        <p:spPr/>
        <p:txBody>
          <a:bodyPr/>
          <a:lstStyle/>
          <a:p>
            <a:pPr marL="0" indent="0">
              <a:buNone/>
            </a:pPr>
            <a:r>
              <a:rPr lang="en-US" b="1" dirty="0"/>
              <a:t>Key Features</a:t>
            </a:r>
          </a:p>
          <a:p>
            <a:r>
              <a:rPr lang="en-US" dirty="0"/>
              <a:t>REST API built using </a:t>
            </a:r>
            <a:r>
              <a:rPr lang="en-US" dirty="0" err="1"/>
              <a:t>FastAPI</a:t>
            </a:r>
            <a:endParaRPr lang="en-US" dirty="0"/>
          </a:p>
          <a:p>
            <a:r>
              <a:rPr lang="en-US" dirty="0"/>
              <a:t>Dynamic model loading</a:t>
            </a:r>
          </a:p>
          <a:p>
            <a:r>
              <a:rPr lang="en-US" dirty="0"/>
              <a:t>Automatic feature engineering</a:t>
            </a:r>
          </a:p>
          <a:p>
            <a:r>
              <a:rPr lang="en-US" dirty="0"/>
              <a:t>Handles multiple ML models</a:t>
            </a:r>
          </a:p>
          <a:p>
            <a:r>
              <a:rPr lang="en-US" dirty="0"/>
              <a:t>Returns probability.</a:t>
            </a:r>
          </a:p>
          <a:p>
            <a:endParaRPr lang="en-IN" dirty="0"/>
          </a:p>
        </p:txBody>
      </p:sp>
    </p:spTree>
    <p:extLst>
      <p:ext uri="{BB962C8B-B14F-4D97-AF65-F5344CB8AC3E}">
        <p14:creationId xmlns:p14="http://schemas.microsoft.com/office/powerpoint/2010/main" val="1064619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CA52DA-B9E1-D50D-477F-BEFB637FB5D5}"/>
              </a:ext>
            </a:extLst>
          </p:cNvPr>
          <p:cNvSpPr>
            <a:spLocks noGrp="1"/>
          </p:cNvSpPr>
          <p:nvPr>
            <p:ph type="title"/>
          </p:nvPr>
        </p:nvSpPr>
        <p:spPr/>
        <p:txBody>
          <a:bodyPr/>
          <a:lstStyle/>
          <a:p>
            <a:r>
              <a:rPr lang="en-IN" dirty="0"/>
              <a:t>FASTAPI ENDPOINTS</a:t>
            </a:r>
          </a:p>
        </p:txBody>
      </p:sp>
      <p:sp>
        <p:nvSpPr>
          <p:cNvPr id="5" name="Content Placeholder 4">
            <a:extLst>
              <a:ext uri="{FF2B5EF4-FFF2-40B4-BE49-F238E27FC236}">
                <a16:creationId xmlns:a16="http://schemas.microsoft.com/office/drawing/2014/main" id="{7F9160C1-EA83-F598-5455-D3B7341EAA5D}"/>
              </a:ext>
            </a:extLst>
          </p:cNvPr>
          <p:cNvSpPr>
            <a:spLocks noGrp="1"/>
          </p:cNvSpPr>
          <p:nvPr>
            <p:ph sz="half" idx="1"/>
          </p:nvPr>
        </p:nvSpPr>
        <p:spPr/>
        <p:txBody>
          <a:bodyPr/>
          <a:lstStyle/>
          <a:p>
            <a:pPr marL="0" indent="0">
              <a:buNone/>
            </a:pPr>
            <a:r>
              <a:rPr lang="en-IN" b="1" dirty="0"/>
              <a:t>GET Endpoints</a:t>
            </a:r>
          </a:p>
          <a:p>
            <a:r>
              <a:rPr lang="en-IN" dirty="0"/>
              <a:t>/health → Check API status</a:t>
            </a:r>
          </a:p>
          <a:p>
            <a:r>
              <a:rPr lang="en-IN" dirty="0"/>
              <a:t>/models → List available models</a:t>
            </a:r>
          </a:p>
          <a:p>
            <a:r>
              <a:rPr lang="en-IN" dirty="0"/>
              <a:t>/runtime → Show Python &amp; </a:t>
            </a:r>
            <a:r>
              <a:rPr lang="en-IN" dirty="0" err="1"/>
              <a:t>sklearn</a:t>
            </a:r>
            <a:r>
              <a:rPr lang="en-IN" dirty="0"/>
              <a:t> versions</a:t>
            </a:r>
          </a:p>
          <a:p>
            <a:endParaRPr lang="en-IN" dirty="0"/>
          </a:p>
        </p:txBody>
      </p:sp>
      <p:sp>
        <p:nvSpPr>
          <p:cNvPr id="6" name="Content Placeholder 5">
            <a:extLst>
              <a:ext uri="{FF2B5EF4-FFF2-40B4-BE49-F238E27FC236}">
                <a16:creationId xmlns:a16="http://schemas.microsoft.com/office/drawing/2014/main" id="{5CAA0DF6-048D-35F5-A1C0-BF18F08C4A0E}"/>
              </a:ext>
            </a:extLst>
          </p:cNvPr>
          <p:cNvSpPr>
            <a:spLocks noGrp="1"/>
          </p:cNvSpPr>
          <p:nvPr>
            <p:ph sz="half" idx="2"/>
          </p:nvPr>
        </p:nvSpPr>
        <p:spPr/>
        <p:txBody>
          <a:bodyPr/>
          <a:lstStyle/>
          <a:p>
            <a:pPr marL="0" indent="0">
              <a:buNone/>
            </a:pPr>
            <a:r>
              <a:rPr lang="en-US" b="1" dirty="0"/>
              <a:t>POST Endpoint</a:t>
            </a:r>
          </a:p>
          <a:p>
            <a:r>
              <a:rPr lang="en-US" sz="3600" dirty="0"/>
              <a:t>/predict</a:t>
            </a:r>
          </a:p>
          <a:p>
            <a:pPr lvl="1"/>
            <a:r>
              <a:rPr lang="en-US" sz="3200" dirty="0"/>
              <a:t>Accepts water parameters</a:t>
            </a:r>
          </a:p>
          <a:p>
            <a:pPr lvl="1"/>
            <a:r>
              <a:rPr lang="en-US" sz="3200" dirty="0"/>
              <a:t>Returns:</a:t>
            </a:r>
          </a:p>
          <a:p>
            <a:pPr lvl="2"/>
            <a:r>
              <a:rPr lang="en-US" sz="2800" dirty="0"/>
              <a:t>Prediction</a:t>
            </a:r>
          </a:p>
          <a:p>
            <a:pPr lvl="2"/>
            <a:r>
              <a:rPr lang="en-US" sz="2800" dirty="0"/>
              <a:t>Label</a:t>
            </a:r>
          </a:p>
          <a:p>
            <a:pPr lvl="2"/>
            <a:r>
              <a:rPr lang="en-US" sz="2800" dirty="0"/>
              <a:t>Probability</a:t>
            </a:r>
          </a:p>
          <a:p>
            <a:pPr lvl="2"/>
            <a:r>
              <a:rPr lang="en-US" sz="2800" dirty="0"/>
              <a:t>Model file used</a:t>
            </a:r>
          </a:p>
          <a:p>
            <a:endParaRPr lang="en-IN" dirty="0"/>
          </a:p>
        </p:txBody>
      </p:sp>
    </p:spTree>
    <p:extLst>
      <p:ext uri="{BB962C8B-B14F-4D97-AF65-F5344CB8AC3E}">
        <p14:creationId xmlns:p14="http://schemas.microsoft.com/office/powerpoint/2010/main" val="2502844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EE1825-E34D-43D6-E2FE-7657EE0D5CBB}"/>
              </a:ext>
            </a:extLst>
          </p:cNvPr>
          <p:cNvSpPr>
            <a:spLocks noGrp="1"/>
          </p:cNvSpPr>
          <p:nvPr>
            <p:ph type="title"/>
          </p:nvPr>
        </p:nvSpPr>
        <p:spPr/>
        <p:txBody>
          <a:bodyPr>
            <a:normAutofit/>
          </a:bodyPr>
          <a:lstStyle/>
          <a:p>
            <a:r>
              <a:rPr lang="en-IN" dirty="0"/>
              <a:t>PREDICTION WORKFLOW</a:t>
            </a:r>
          </a:p>
        </p:txBody>
      </p:sp>
      <p:sp>
        <p:nvSpPr>
          <p:cNvPr id="6" name="Content Placeholder 5">
            <a:extLst>
              <a:ext uri="{FF2B5EF4-FFF2-40B4-BE49-F238E27FC236}">
                <a16:creationId xmlns:a16="http://schemas.microsoft.com/office/drawing/2014/main" id="{6BACA7EB-03CD-D232-7FF9-E847F4C31954}"/>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FontTx/>
              <a:buChar char="•"/>
            </a:pPr>
            <a:r>
              <a:rPr lang="en-US" altLang="en-US" dirty="0">
                <a:latin typeface="+mn-lt"/>
              </a:rPr>
              <a:t>User submits input values</a:t>
            </a:r>
          </a:p>
          <a:p>
            <a:pPr marL="0" lvl="0" indent="0" eaLnBrk="0" fontAlgn="base" hangingPunct="0">
              <a:lnSpc>
                <a:spcPct val="100000"/>
              </a:lnSpc>
              <a:spcBef>
                <a:spcPct val="0"/>
              </a:spcBef>
              <a:spcAft>
                <a:spcPct val="0"/>
              </a:spcAft>
              <a:buFontTx/>
              <a:buChar char="•"/>
            </a:pPr>
            <a:r>
              <a:rPr lang="en-US" altLang="en-US" dirty="0">
                <a:latin typeface="+mn-lt"/>
              </a:rPr>
              <a:t>API:</a:t>
            </a:r>
          </a:p>
          <a:p>
            <a:pPr lvl="0" eaLnBrk="0" fontAlgn="base" hangingPunct="0">
              <a:lnSpc>
                <a:spcPct val="100000"/>
              </a:lnSpc>
              <a:spcBef>
                <a:spcPct val="0"/>
              </a:spcBef>
              <a:spcAft>
                <a:spcPct val="0"/>
              </a:spcAft>
              <a:buFont typeface="Wingdings" panose="05000000000000000000" pitchFamily="2" charset="2"/>
              <a:buChar char="ü"/>
            </a:pPr>
            <a:r>
              <a:rPr lang="en-US" altLang="en-US" dirty="0">
                <a:latin typeface="+mn-lt"/>
              </a:rPr>
              <a:t>   Computes engineered features</a:t>
            </a:r>
          </a:p>
          <a:p>
            <a:pPr lvl="0" eaLnBrk="0" fontAlgn="base" hangingPunct="0">
              <a:lnSpc>
                <a:spcPct val="100000"/>
              </a:lnSpc>
              <a:spcBef>
                <a:spcPct val="0"/>
              </a:spcBef>
              <a:spcAft>
                <a:spcPct val="0"/>
              </a:spcAft>
              <a:buFont typeface="Wingdings" panose="05000000000000000000" pitchFamily="2" charset="2"/>
              <a:buChar char="ü"/>
            </a:pPr>
            <a:r>
              <a:rPr lang="en-US" altLang="en-US" dirty="0">
                <a:latin typeface="+mn-lt"/>
              </a:rPr>
              <a:t>   Encodes pH category</a:t>
            </a:r>
          </a:p>
          <a:p>
            <a:pPr marL="0" lvl="0" indent="0" eaLnBrk="0" fontAlgn="base" hangingPunct="0">
              <a:lnSpc>
                <a:spcPct val="100000"/>
              </a:lnSpc>
              <a:spcBef>
                <a:spcPct val="0"/>
              </a:spcBef>
              <a:spcAft>
                <a:spcPct val="0"/>
              </a:spcAft>
              <a:buFontTx/>
              <a:buChar char="•"/>
            </a:pPr>
            <a:r>
              <a:rPr lang="en-US" altLang="en-US" dirty="0">
                <a:latin typeface="+mn-lt"/>
              </a:rPr>
              <a:t>Loads selected model</a:t>
            </a:r>
          </a:p>
          <a:p>
            <a:pPr marL="0" lvl="0" indent="0" eaLnBrk="0" fontAlgn="base" hangingPunct="0">
              <a:lnSpc>
                <a:spcPct val="100000"/>
              </a:lnSpc>
              <a:spcBef>
                <a:spcPct val="0"/>
              </a:spcBef>
              <a:spcAft>
                <a:spcPct val="0"/>
              </a:spcAft>
              <a:buFontTx/>
              <a:buChar char="•"/>
            </a:pPr>
            <a:r>
              <a:rPr lang="en-US" altLang="en-US" dirty="0">
                <a:latin typeface="+mn-lt"/>
              </a:rPr>
              <a:t>Makes the prediction.</a:t>
            </a:r>
          </a:p>
          <a:p>
            <a:pPr marL="0" lvl="0" indent="0" eaLnBrk="0" fontAlgn="base" hangingPunct="0">
              <a:lnSpc>
                <a:spcPct val="100000"/>
              </a:lnSpc>
              <a:spcBef>
                <a:spcPct val="0"/>
              </a:spcBef>
              <a:spcAft>
                <a:spcPct val="0"/>
              </a:spcAft>
              <a:buFontTx/>
              <a:buChar char="•"/>
            </a:pPr>
            <a:r>
              <a:rPr lang="en-US" altLang="en-US" dirty="0">
                <a:latin typeface="+mn-lt"/>
              </a:rPr>
              <a:t>Returns:</a:t>
            </a:r>
          </a:p>
          <a:p>
            <a:pPr lvl="0" eaLnBrk="0" fontAlgn="base" hangingPunct="0">
              <a:lnSpc>
                <a:spcPct val="100000"/>
              </a:lnSpc>
              <a:spcBef>
                <a:spcPct val="0"/>
              </a:spcBef>
              <a:spcAft>
                <a:spcPct val="0"/>
              </a:spcAft>
              <a:buFont typeface="Wingdings" panose="05000000000000000000" pitchFamily="2" charset="2"/>
              <a:buChar char="ü"/>
            </a:pPr>
            <a:r>
              <a:rPr lang="en-US" altLang="en-US" dirty="0">
                <a:latin typeface="+mn-lt"/>
              </a:rPr>
              <a:t>   0 or 1</a:t>
            </a:r>
          </a:p>
          <a:p>
            <a:pPr lvl="0" eaLnBrk="0" fontAlgn="base" hangingPunct="0">
              <a:lnSpc>
                <a:spcPct val="100000"/>
              </a:lnSpc>
              <a:spcBef>
                <a:spcPct val="0"/>
              </a:spcBef>
              <a:spcAft>
                <a:spcPct val="0"/>
              </a:spcAft>
              <a:buFont typeface="Wingdings" panose="05000000000000000000" pitchFamily="2" charset="2"/>
              <a:buChar char="ü"/>
            </a:pPr>
            <a:r>
              <a:rPr lang="en-US" altLang="en-US" dirty="0">
                <a:latin typeface="+mn-lt"/>
              </a:rPr>
              <a:t>   Potable / Not Potable</a:t>
            </a:r>
          </a:p>
          <a:p>
            <a:pPr lvl="0" eaLnBrk="0" fontAlgn="base" hangingPunct="0">
              <a:lnSpc>
                <a:spcPct val="100000"/>
              </a:lnSpc>
              <a:spcBef>
                <a:spcPct val="0"/>
              </a:spcBef>
              <a:spcAft>
                <a:spcPct val="0"/>
              </a:spcAft>
              <a:buFont typeface="Wingdings" panose="05000000000000000000" pitchFamily="2" charset="2"/>
              <a:buChar char="ü"/>
            </a:pPr>
            <a:r>
              <a:rPr lang="en-US" altLang="en-US" dirty="0">
                <a:latin typeface="+mn-lt"/>
              </a:rPr>
              <a:t>   Probability score</a:t>
            </a:r>
          </a:p>
          <a:p>
            <a:pPr marL="0" lvl="0" indent="0" eaLnBrk="0" fontAlgn="base" hangingPunct="0">
              <a:lnSpc>
                <a:spcPct val="100000"/>
              </a:lnSpc>
              <a:spcBef>
                <a:spcPct val="0"/>
              </a:spcBef>
              <a:spcAft>
                <a:spcPct val="0"/>
              </a:spcAft>
              <a:buNone/>
            </a:pPr>
            <a:endParaRPr lang="en-US" altLang="en-US" dirty="0">
              <a:latin typeface="+mn-lt"/>
            </a:endParaRPr>
          </a:p>
          <a:p>
            <a:endParaRPr lang="en-IN" dirty="0">
              <a:latin typeface="+mn-lt"/>
            </a:endParaRPr>
          </a:p>
        </p:txBody>
      </p:sp>
    </p:spTree>
    <p:extLst>
      <p:ext uri="{BB962C8B-B14F-4D97-AF65-F5344CB8AC3E}">
        <p14:creationId xmlns:p14="http://schemas.microsoft.com/office/powerpoint/2010/main" val="2722211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2961-4B52-157A-6ABC-1B6140CAF909}"/>
              </a:ext>
            </a:extLst>
          </p:cNvPr>
          <p:cNvSpPr>
            <a:spLocks noGrp="1"/>
          </p:cNvSpPr>
          <p:nvPr>
            <p:ph type="title"/>
          </p:nvPr>
        </p:nvSpPr>
        <p:spPr/>
        <p:txBody>
          <a:bodyPr/>
          <a:lstStyle/>
          <a:p>
            <a:r>
              <a:rPr lang="en-IN" dirty="0"/>
              <a:t>FRONTEND: STREAMLIT APP</a:t>
            </a:r>
          </a:p>
        </p:txBody>
      </p:sp>
      <p:sp>
        <p:nvSpPr>
          <p:cNvPr id="3" name="Content Placeholder 2">
            <a:extLst>
              <a:ext uri="{FF2B5EF4-FFF2-40B4-BE49-F238E27FC236}">
                <a16:creationId xmlns:a16="http://schemas.microsoft.com/office/drawing/2014/main" id="{64BA8D3C-F75B-EF94-E7DA-27F928B20F28}"/>
              </a:ext>
            </a:extLst>
          </p:cNvPr>
          <p:cNvSpPr>
            <a:spLocks noGrp="1"/>
          </p:cNvSpPr>
          <p:nvPr>
            <p:ph idx="1"/>
          </p:nvPr>
        </p:nvSpPr>
        <p:spPr/>
        <p:txBody>
          <a:bodyPr>
            <a:normAutofit fontScale="92500" lnSpcReduction="10000"/>
          </a:bodyPr>
          <a:lstStyle/>
          <a:p>
            <a:r>
              <a:rPr lang="en-US" sz="3200" dirty="0"/>
              <a:t>Modern light theme styling</a:t>
            </a:r>
          </a:p>
          <a:p>
            <a:r>
              <a:rPr lang="en-US" sz="3200" dirty="0"/>
              <a:t>Backend connection field</a:t>
            </a:r>
          </a:p>
          <a:p>
            <a:r>
              <a:rPr lang="en-US" sz="3200" dirty="0"/>
              <a:t>Model selection dropdown</a:t>
            </a:r>
          </a:p>
          <a:p>
            <a:r>
              <a:rPr lang="en-US" sz="3200" dirty="0"/>
              <a:t>Quick presets:</a:t>
            </a:r>
          </a:p>
          <a:p>
            <a:pPr lvl="1"/>
            <a:r>
              <a:rPr lang="en-US" sz="2800" dirty="0"/>
              <a:t>Typical Tap</a:t>
            </a:r>
          </a:p>
          <a:p>
            <a:pPr lvl="1"/>
            <a:r>
              <a:rPr lang="en-US" sz="2800" dirty="0"/>
              <a:t>Hard Water</a:t>
            </a:r>
          </a:p>
          <a:p>
            <a:pPr lvl="1"/>
            <a:r>
              <a:rPr lang="en-US" sz="2800" dirty="0"/>
              <a:t>Soft Water</a:t>
            </a:r>
          </a:p>
          <a:p>
            <a:pPr lvl="1"/>
            <a:r>
              <a:rPr lang="en-US" sz="2800" dirty="0"/>
              <a:t>River Water</a:t>
            </a:r>
          </a:p>
          <a:p>
            <a:pPr lvl="1"/>
            <a:r>
              <a:rPr lang="en-US" sz="2800" dirty="0"/>
              <a:t>Industrial Water</a:t>
            </a:r>
          </a:p>
          <a:p>
            <a:r>
              <a:rPr lang="en-US" sz="3200" dirty="0"/>
              <a:t>Real-time prediction button</a:t>
            </a:r>
          </a:p>
          <a:p>
            <a:endParaRPr lang="en-IN" dirty="0"/>
          </a:p>
        </p:txBody>
      </p:sp>
    </p:spTree>
    <p:extLst>
      <p:ext uri="{BB962C8B-B14F-4D97-AF65-F5344CB8AC3E}">
        <p14:creationId xmlns:p14="http://schemas.microsoft.com/office/powerpoint/2010/main" val="4178920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C8D35-D362-C648-9F78-18F1DAE19395}"/>
              </a:ext>
            </a:extLst>
          </p:cNvPr>
          <p:cNvSpPr>
            <a:spLocks noGrp="1"/>
          </p:cNvSpPr>
          <p:nvPr>
            <p:ph type="title"/>
          </p:nvPr>
        </p:nvSpPr>
        <p:spPr/>
        <p:txBody>
          <a:bodyPr/>
          <a:lstStyle/>
          <a:p>
            <a:r>
              <a:rPr lang="en-IN"/>
              <a:t>CONCLUSION</a:t>
            </a:r>
            <a:endParaRPr lang="en-IN" dirty="0"/>
          </a:p>
        </p:txBody>
      </p:sp>
      <p:sp>
        <p:nvSpPr>
          <p:cNvPr id="3" name="Content Placeholder 2">
            <a:extLst>
              <a:ext uri="{FF2B5EF4-FFF2-40B4-BE49-F238E27FC236}">
                <a16:creationId xmlns:a16="http://schemas.microsoft.com/office/drawing/2014/main" id="{F06E86EB-D115-6C5A-7B05-04152E290FB9}"/>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Built full ML lifecycle project.</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Trained multiple classification models</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Deployed using </a:t>
            </a:r>
            <a:r>
              <a:rPr lang="en-US" altLang="en-US" dirty="0" err="1">
                <a:latin typeface="Arial" panose="020B0604020202020204" pitchFamily="34" charset="0"/>
              </a:rPr>
              <a:t>FastAPI</a:t>
            </a:r>
            <a:r>
              <a:rPr lang="en-US" altLang="en-US" dirty="0">
                <a:latin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Built interactive dashboard,</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Real-time water potability prediction system.</a:t>
            </a:r>
          </a:p>
          <a:p>
            <a:endParaRPr lang="en-IN" dirty="0"/>
          </a:p>
        </p:txBody>
      </p:sp>
    </p:spTree>
    <p:extLst>
      <p:ext uri="{BB962C8B-B14F-4D97-AF65-F5344CB8AC3E}">
        <p14:creationId xmlns:p14="http://schemas.microsoft.com/office/powerpoint/2010/main" val="3843451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7096</TotalTime>
  <Words>541</Words>
  <Application>Microsoft Office PowerPoint</Application>
  <PresentationFormat>Widescreen</PresentationFormat>
  <Paragraphs>148</Paragraphs>
  <Slides>27</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Wingdings</vt:lpstr>
      <vt:lpstr>BIA Template</vt:lpstr>
      <vt:lpstr>PowerPoint Presentation</vt:lpstr>
      <vt:lpstr>INTRODUCTION</vt:lpstr>
      <vt:lpstr>PROBLEM STATEMENT</vt:lpstr>
      <vt:lpstr>DATASET FEATURES</vt:lpstr>
      <vt:lpstr>DATA PREPROCESSING &amp; MISSING VALUE HANDLING</vt:lpstr>
      <vt:lpstr>EXPLORATORY DATA ANALYSIS (EDA)</vt:lpstr>
      <vt:lpstr>EDA VISUZLIZATION</vt:lpstr>
      <vt:lpstr>FEATURE DISTRIBUTIONS</vt:lpstr>
      <vt:lpstr> OUTLIERS </vt:lpstr>
      <vt:lpstr>CORRELATION ANALYSIS</vt:lpstr>
      <vt:lpstr>FEATURE IMPORTANCE</vt:lpstr>
      <vt:lpstr>HANDLING CLASS IMBALANCE</vt:lpstr>
      <vt:lpstr>FEATURE ENGINEERING</vt:lpstr>
      <vt:lpstr>FEATURE SCALING</vt:lpstr>
      <vt:lpstr>MACHINE LEARNING MODELS</vt:lpstr>
      <vt:lpstr>MODEL PERFORMANCE COMPARISON </vt:lpstr>
      <vt:lpstr>BEST PERMORMED PERFORMANCE</vt:lpstr>
      <vt:lpstr>CONFUSION MATRIX</vt:lpstr>
      <vt:lpstr>ROC CURVES</vt:lpstr>
      <vt:lpstr>FEATURE IMPORTANCE BASED ON TREE MODELS</vt:lpstr>
      <vt:lpstr>SYSTEM ARCHITECTURE</vt:lpstr>
      <vt:lpstr>BACKEND: FASTAPI ARCHITECTURE</vt:lpstr>
      <vt:lpstr>FASTAPI ENDPOINTS</vt:lpstr>
      <vt:lpstr>PREDICTION WORKFLOW</vt:lpstr>
      <vt:lpstr>FRONTEND: STREAMLIT APP</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FARZANA MR</cp:lastModifiedBy>
  <cp:revision>2257</cp:revision>
  <dcterms:created xsi:type="dcterms:W3CDTF">2020-12-23T13:36:00Z</dcterms:created>
  <dcterms:modified xsi:type="dcterms:W3CDTF">2026-02-21T11:15:26Z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